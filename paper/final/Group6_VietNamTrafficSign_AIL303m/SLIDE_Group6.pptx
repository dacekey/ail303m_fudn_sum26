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063070bb5ba48f2" Type="http://schemas.openxmlformats.org/officeDocument/2006/relationships/extended-properties" Target="docProps/app.xml"/><Relationship Id="Rc917b22ed8c740e1" Type="http://schemas.openxmlformats.org/package/2006/relationships/metadata/core-properties" Target="docProps/core.xml"/><Relationship Id="Rf1667902c08c4219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2bb933a79a41a9"/>
  </p:sldMasterIdLst>
  <p:notesMasterIdLst>
    <p:notesMasterId xmlns:r="http://schemas.openxmlformats.org/officeDocument/2006/relationships" r:id="R7d139341f7a54d38"/>
  </p:notesMasterIdLst>
  <p:sldIdLst>
    <p:sldId xmlns:r="http://schemas.openxmlformats.org/officeDocument/2006/relationships" id="256" r:id="R2d1895bf80e540ed"/>
    <p:sldId xmlns:r="http://schemas.openxmlformats.org/officeDocument/2006/relationships" id="257" r:id="Rfe4cdaf6533b4c67"/>
    <p:sldId xmlns:ns0="http://schemas.openxmlformats.org/officeDocument/2006/relationships" id="269" ns0:id="rId19"/>
    <p:sldId xmlns:r="http://schemas.openxmlformats.org/officeDocument/2006/relationships" id="258" r:id="R79d16d3562444973"/>
    <p:sldId xmlns:r="http://schemas.openxmlformats.org/officeDocument/2006/relationships" id="259" r:id="Re8df02fa69474932"/>
    <p:sldId xmlns:r="http://schemas.openxmlformats.org/officeDocument/2006/relationships" id="260" r:id="R6f317bd76bae41ee"/>
    <p:sldId xmlns:r="http://schemas.openxmlformats.org/officeDocument/2006/relationships" id="261" r:id="R6d76ccb2dc2d4b6c"/>
    <p:sldId xmlns:r="http://schemas.openxmlformats.org/officeDocument/2006/relationships" id="262" r:id="R331989df34c54de8"/>
    <p:sldId xmlns:r="http://schemas.openxmlformats.org/officeDocument/2006/relationships" id="263" r:id="R626c89b7897a4cc3"/>
    <p:sldId xmlns:r="http://schemas.openxmlformats.org/officeDocument/2006/relationships" id="264" r:id="R854b1508523f4809"/>
    <p:sldId xmlns:r="http://schemas.openxmlformats.org/officeDocument/2006/relationships" id="265" r:id="R460dc72f86cd4157"/>
    <p:sldId xmlns:r="http://schemas.openxmlformats.org/officeDocument/2006/relationships" id="266" r:id="R18c95025866e4d50"/>
    <p:sldId xmlns:r="http://schemas.openxmlformats.org/officeDocument/2006/relationships" id="267" r:id="R9586421189984f24"/>
    <p:sldId xmlns:r="http://schemas.openxmlformats.org/officeDocument/2006/relationships" id="268" r:id="Rb966469460c747b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8e3591192504281" Type="http://schemas.openxmlformats.org/officeDocument/2006/relationships/presProps" Target="presProps.xml"/><Relationship Id="R18c95025866e4d50" Type="http://schemas.openxmlformats.org/officeDocument/2006/relationships/slide" Target="slides/slide11.xml"/><Relationship Id="R262bb933a79a41a9" Type="http://schemas.openxmlformats.org/officeDocument/2006/relationships/slideMaster" Target="slideMasters/slideMaster1.xml"/><Relationship Id="R2d1895bf80e540ed" Type="http://schemas.openxmlformats.org/officeDocument/2006/relationships/slide" Target="slides/slide1.xml"/><Relationship Id="R331989df34c54de8" Type="http://schemas.openxmlformats.org/officeDocument/2006/relationships/slide" Target="slides/slide7.xml"/><Relationship Id="R460dc72f86cd4157" Type="http://schemas.openxmlformats.org/officeDocument/2006/relationships/slide" Target="slides/slide10.xml"/><Relationship Id="R626c89b7897a4cc3" Type="http://schemas.openxmlformats.org/officeDocument/2006/relationships/slide" Target="slides/slide8.xml"/><Relationship Id="R6d76ccb2dc2d4b6c" Type="http://schemas.openxmlformats.org/officeDocument/2006/relationships/slide" Target="slides/slide6.xml"/><Relationship Id="R6f317bd76bae41ee" Type="http://schemas.openxmlformats.org/officeDocument/2006/relationships/slide" Target="slides/slide5.xml"/><Relationship Id="R79d16d3562444973" Type="http://schemas.openxmlformats.org/officeDocument/2006/relationships/slide" Target="slides/slide3.xml"/><Relationship Id="R7d139341f7a54d38" Type="http://schemas.openxmlformats.org/officeDocument/2006/relationships/notesMaster" Target="notesMasters/notesMaster1.xml"/><Relationship Id="R854b1508523f4809" Type="http://schemas.openxmlformats.org/officeDocument/2006/relationships/slide" Target="slides/slide9.xml"/><Relationship Id="R9586421189984f24" Type="http://schemas.openxmlformats.org/officeDocument/2006/relationships/slide" Target="slides/slide12.xml"/><Relationship Id="R97ba1348fa6c4e61" Type="http://schemas.openxmlformats.org/officeDocument/2006/relationships/tableStyles" Target="tableStyles.xml"/><Relationship Id="R9e0b096d4b534fd4" Type="http://schemas.openxmlformats.org/officeDocument/2006/relationships/theme" Target="theme/theme1.xml"/><Relationship Id="Rb966469460c747b2" Type="http://schemas.openxmlformats.org/officeDocument/2006/relationships/slide" Target="slides/slide13.xml"/><Relationship Id="Re8df02fa69474932" Type="http://schemas.openxmlformats.org/officeDocument/2006/relationships/slide" Target="slides/slide4.xml"/><Relationship Id="Rfe4cdaf6533b4c67" Type="http://schemas.openxmlformats.org/officeDocument/2006/relationships/slide" Target="slides/slide2.xml"/><Relationship Id="rId19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1272afe94fe34dd3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1503bfe6b3245c7" Type="http://schemas.openxmlformats.org/officeDocument/2006/relationships/notesMaster" Target="../notesMasters/notesMaster1.xml"/><Relationship Id="Ra5d8c0672e6a4e03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bb05a5b5cd874dcc" Type="http://schemas.openxmlformats.org/officeDocument/2006/relationships/slide" Target="../slides/slide2.xml"/><Relationship Id="Re0adf8edbd5a4f1e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411e871a18544efb" Type="http://schemas.openxmlformats.org/officeDocument/2006/relationships/slide" Target="../slides/slide3.xml"/><Relationship Id="R776ca24e693648aa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6538effeaa0d42ec" Type="http://schemas.openxmlformats.org/officeDocument/2006/relationships/notesMaster" Target="../notesMasters/notesMaster1.xml"/><Relationship Id="Rb63c0e72165e4ec7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921e073b9afe49b0" Type="http://schemas.openxmlformats.org/officeDocument/2006/relationships/slide" Target="../slides/slide5.xml"/><Relationship Id="Rd116c4ceea2143ec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1bfb2aacd6174fe5" Type="http://schemas.openxmlformats.org/officeDocument/2006/relationships/slide" Target="../slides/slide6.xml"/><Relationship Id="Rab99fb60a4664dd0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58bae6e602dd4ceb" Type="http://schemas.openxmlformats.org/officeDocument/2006/relationships/slide" Target="../slides/slide7.xml"/><Relationship Id="R7649639f1d714d5d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13230cf19c044b33" Type="http://schemas.openxmlformats.org/officeDocument/2006/relationships/notesMaster" Target="../notesMasters/notesMaster1.xml"/><Relationship Id="Rb3d753b0b3ff4e77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a53e44a7fe5340c5" Type="http://schemas.openxmlformats.org/officeDocument/2006/relationships/slide" Target="../slides/slide9.xml"/><Relationship Id="Rdc3382efadd84be4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7e6db75094994add" Type="http://schemas.openxmlformats.org/officeDocument/2006/relationships/slide" Target="../slides/slide10.xml"/><Relationship Id="Re4804ceba4fe4014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7d3d14e48d9f4afb" Type="http://schemas.openxmlformats.org/officeDocument/2006/relationships/slide" Target="../slides/slide11.xml"/><Relationship Id="Rfd1b6e57ee9f42b9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49f1302bebe84f7c" Type="http://schemas.openxmlformats.org/officeDocument/2006/relationships/slide" Target="../slides/slide12.xml"/><Relationship Id="R9ab96a3add8c4995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a5106d02504548a0" Type="http://schemas.openxmlformats.org/officeDocument/2006/relationships/notesMaster" Target="../notesMasters/notesMaster1.xml"/><Relationship Id="Rf1a1b9a4b61a4d5e" Type="http://schemas.openxmlformats.org/officeDocument/2006/relationships/slide" Target="../slides/slide13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2707f975a7b044cb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2449fff8ad544388" Type="http://schemas.openxmlformats.org/officeDocument/2006/relationships/slideLayout" Target="../slideLayouts/slideLayout1.xml"/><Relationship Id="Rd2eddcfe32844165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49fff8ad5443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9206e8e1ec034b88" Type="http://schemas.openxmlformats.org/officeDocument/2006/relationships/notesSlide" Target="../notesSlides/notesSlide1.xml"/><Relationship Id="Rde9cf4ae5c53468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9ec4bad9c15c40a9" Type="http://schemas.openxmlformats.org/officeDocument/2006/relationships/slideLayout" Target="../slideLayouts/slideLayout1.xml"/><Relationship Id="Rc902663c9792418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7632665718154eb3" Type="http://schemas.openxmlformats.org/officeDocument/2006/relationships/slideLayout" Target="../slideLayouts/slideLayout1.xml"/><Relationship Id="Rb9da0ef9245d444e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62c22bbc70e54f68" Type="http://schemas.openxmlformats.org/officeDocument/2006/relationships/slideLayout" Target="../slideLayouts/slideLayout1.xml"/><Relationship Id="R7b334cb5d2184b7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13958d1f9521489d" Type="http://schemas.openxmlformats.org/officeDocument/2006/relationships/slideLayout" Target="../slideLayouts/slideLayout1.xml"/><Relationship Id="R7fe13c6a905141c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7522870463c44f06" Type="http://schemas.openxmlformats.org/officeDocument/2006/relationships/slideLayout" Target="../slideLayouts/slideLayout1.xml"/><Relationship Id="Rf8b24d2e9b8e4bd0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009480cd438248ae" Type="http://schemas.openxmlformats.org/officeDocument/2006/relationships/slideLayout" Target="../slideLayouts/slideLayout1.xml"/><Relationship Id="R67dea0907ce6433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4db0287615194d48" Type="http://schemas.openxmlformats.org/officeDocument/2006/relationships/slideLayout" Target="../slideLayouts/slideLayout1.xml"/><Relationship Id="R7ded0b316bc94bf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33ca419ff3b24640" Type="http://schemas.openxmlformats.org/officeDocument/2006/relationships/notesSlide" Target="../notesSlides/notesSlide9.xml"/><Relationship Id="Rbcaffa3975ab440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6284e2fb286c4ab1" Type="http://schemas.openxmlformats.org/officeDocument/2006/relationships/notesSlide" Target="../notesSlides/notesSlide10.xml"/><Relationship Id="R790980dd8a5b4b3a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8a96ea9e8b2a46db" Type="http://schemas.openxmlformats.org/officeDocument/2006/relationships/notesSlide" Target="../notesSlides/notesSlide11.xml"/><Relationship Id="Ra17132ccb75841bb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5c42a2c47d574844" Type="http://schemas.openxmlformats.org/officeDocument/2006/relationships/slideLayout" Target="../slideLayouts/slideLayout1.xml"/><Relationship Id="Re40fbb89f7394049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00637139ad4845b5" Type="http://schemas.openxmlformats.org/officeDocument/2006/relationships/notesSlide" Target="../notesSlides/notesSlide13.xml"/><Relationship Id="R7902791b39af4e87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D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D22DA9-EED7-40C8-8795-E5A03B1A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0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78"/>
          </a:solidFill>
          <a:ln xmlns:a="http://schemas.openxmlformats.org/drawingml/2006/main" w="0">
            <a:solidFill>
              <a:srgbClr val="123F7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DB4C5-FD1A-45D4-AB71-C71B3F9E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57625"/>
            <a:ext cx="2333625" cy="2333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396C"/>
          </a:solidFill>
          <a:ln xmlns:a="http://schemas.openxmlformats.org/drawingml/2006/main" w="0">
            <a:solidFill>
              <a:srgbClr val="0E396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FAFD1-4A1E-4226-81F8-9B949BA8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23812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33B3B"/>
          </a:solidFill>
          <a:ln xmlns:a="http://schemas.openxmlformats.org/drawingml/2006/main" w="9525">
            <a:solidFill>
              <a:srgbClr val="E33B3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BFF119-0E64-4F91-BF0E-45BA2D2E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BÁO CÁO PAPER • AIL303m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1515D-CD1C-455D-9725-AAF41815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7810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NHẬN DIỆN BIỂN BÁO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GIAO THÔNG VIỆT NAM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E1DDF-E0E7-424E-93CE-3647FF1C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DBED"/>
                </a:solidFill>
              </a:defRPr>
            </a:pPr>
            <a:r>
              <a:rPr sz="1800" b="0">
                <a:solidFill>
                  <a:srgbClr val="C9DBED"/>
                </a:solidFill>
              </a:rPr>
              <a:t>Bằng các phương pháp trích xuất đặc trưng</a:t>
            </a:r>
          </a:p>
          <a:p xmlns:a="http://schemas.openxmlformats.org/drawingml/2006/main">
            <a:pPr algn="l">
              <a:defRPr sz="1800" b="0">
                <a:solidFill>
                  <a:srgbClr val="C9DBED"/>
                </a:solidFill>
              </a:defRPr>
            </a:pPr>
            <a:r>
              <a:rPr sz="1800" b="0">
                <a:solidFill>
                  <a:srgbClr val="C9DBED"/>
                </a:solidFill>
              </a:rPr>
              <a:t>và mô hình học máy truyền thống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0A11B-C356-4E27-BE51-215C37A9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952625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3B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C8750-1245-471E-B060-68D12375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1800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33B3B"/>
                </a:solidFill>
              </a:defRPr>
            </a:pPr>
            <a:r>
              <a:rPr sz="2550" b="1">
                <a:solidFill>
                  <a:srgbClr val="E33B3B"/>
                </a:solidFill>
              </a:rPr>
              <a:t>96,29%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9DB686-0E25-4111-A170-2CE525CA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33925"/>
            <a:ext cx="1724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C6B7A"/>
                </a:solidFill>
              </a:defRPr>
            </a:pPr>
            <a:r>
              <a:rPr sz="1050" b="1">
                <a:solidFill>
                  <a:srgbClr val="5C6B7A"/>
                </a:solidFill>
              </a:rPr>
              <a:t>TEST MACRO F1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21FCCB-8201-4ED2-9E55-8EEADBDE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95750"/>
            <a:ext cx="1619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49FAE5-2BE9-461F-85F5-563379DA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291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59E0B"/>
                </a:solidFill>
              </a:defRPr>
            </a:pPr>
            <a:r>
              <a:rPr sz="2550" b="1">
                <a:solidFill>
                  <a:srgbClr val="F59E0B"/>
                </a:solidFill>
              </a:rPr>
              <a:t>47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FF619F-6EF6-4B84-A40B-8926BEE4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733925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C6B7A"/>
                </a:solidFill>
              </a:defRPr>
            </a:pPr>
            <a:r>
              <a:rPr sz="1050" b="1">
                <a:solidFill>
                  <a:srgbClr val="5C6B7A"/>
                </a:solidFill>
              </a:rPr>
              <a:t>LỚP NVTS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12CF28-7EDA-4679-8FAF-D9469782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095750"/>
            <a:ext cx="2095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97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94C0F2-E18F-4953-8C25-56C09D46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2910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5976A"/>
                </a:solidFill>
              </a:defRPr>
            </a:pPr>
            <a:r>
              <a:rPr sz="2550" b="1">
                <a:solidFill>
                  <a:srgbClr val="15976A"/>
                </a:solidFill>
              </a:rPr>
              <a:t>1,52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7EA60B-4EE9-4E84-9E68-63756D2C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733925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C6B7A"/>
                </a:solidFill>
              </a:defRPr>
            </a:pPr>
            <a:r>
              <a:rPr sz="1050" b="1">
                <a:solidFill>
                  <a:srgbClr val="5C6B7A"/>
                </a:solidFill>
              </a:rPr>
              <a:t>CLASSIFIER / ẢNH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C07EBC-2982-48AF-8D68-8938BCAB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959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Nhóm 6  •  GVHD: Võ Quốc Trình  •  FPT University Đà Nẵng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E02DA8-72FC-4D21-A64F-06478849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CBE0"/>
                </a:solidFill>
              </a:defRPr>
            </a:pPr>
            <a:r>
              <a:rPr sz="1050" b="0">
                <a:solidFill>
                  <a:srgbClr val="B7CBE0"/>
                </a:solidFill>
              </a:rPr>
              <a:t>Summer 2026</a:t>
            </a:r>
          </a:p>
        </p:txBody>
      </p:sp>
    </p:spTree>
    <p:extLst>
      <p:ext uri="{BB962C8B-B14F-4D97-AF65-F5344CB8AC3E}">
        <p14:creationId xmlns:p14="http://schemas.microsoft.com/office/powerpoint/2010/main" val="19552632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462B22-0973-4405-A70F-FBA39530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67F27A-5A62-48E5-8740-ACB7C644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D5C"/>
                </a:solidFill>
              </a:defRPr>
            </a:pPr>
            <a:r>
              <a:rPr sz="2250" b="1">
                <a:solidFill>
                  <a:srgbClr val="0B2D5C"/>
                </a:solidFill>
              </a:rPr>
              <a:t>Bài toán và mục tiêu nghiên cứu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8F4AB-D6A7-41B0-AD49-1715AB49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669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D3E66-CD77-4308-94D7-EB1DA266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9AA"/>
                </a:solidFill>
              </a:defRPr>
            </a:pPr>
            <a:r>
              <a:rPr sz="1125" b="1">
                <a:solidFill>
                  <a:srgbClr val="1769AA"/>
                </a:solidFill>
              </a:rPr>
              <a:t>Nguyễn LK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E5D63-D825-4B95-BE8A-28D74795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A"/>
                </a:solidFill>
              </a:defRPr>
            </a:pPr>
            <a:r>
              <a:rPr sz="600">
                <a:solidFill>
                  <a:srgbClr val="5C6F82"/>
                </a:solidFill>
                <a:latin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E3AED-EE25-4E81-BF15-6F765026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B7A"/>
                </a:solidFill>
              </a:defRPr>
            </a:pPr>
            <a:r>
              <a:rPr sz="900" b="1">
                <a:solidFill>
                  <a:srgbClr val="5C6B7A"/>
                </a:solidFill>
              </a:rPr>
              <a:t>AIL303m • GROUP 6 • SUMMER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F29EAF-5924-42E8-B33F-1374C2FC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9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DF6C3-7F32-4A56-AFF3-12CEA8EA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096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33B3B"/>
                </a:solidFill>
              </a:defRPr>
            </a:pPr>
            <a:r>
              <a:rPr sz="1050" b="1">
                <a:solidFill>
                  <a:srgbClr val="E33B3B"/>
                </a:solidFill>
              </a:rPr>
              <a:t>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99ADD-887B-4CE2-9B8B-137A3DFE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24765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081F59-D487-4B80-8F57-DA3DE8EF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7162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2D5C"/>
                </a:solidFill>
              </a:defRPr>
            </a:pPr>
            <a:r>
              <a:rPr sz="1725" b="1">
                <a:solidFill>
                  <a:srgbClr val="0B2D5C"/>
                </a:solidFill>
              </a:rPr>
              <a:t>Ảnh biển báo</a:t>
            </a:r>
          </a:p>
          <a:p xmlns:a="http://schemas.openxmlformats.org/drawingml/2006/main">
            <a:pPr algn="ctr">
              <a:defRPr sz="1725" b="1">
                <a:solidFill>
                  <a:srgbClr val="0B2D5C"/>
                </a:solidFill>
              </a:defRPr>
            </a:pPr>
            <a:r>
              <a:rPr sz="1725" b="1">
                <a:solidFill>
                  <a:srgbClr val="0B2D5C"/>
                </a:solidFill>
              </a:rPr>
              <a:t>đã crop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058FF-DC7E-4208-A203-FAB4E3E5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098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B7A"/>
                </a:solidFill>
              </a:defRPr>
            </a:pPr>
            <a:r>
              <a:rPr sz="1125" b="0">
                <a:solidFill>
                  <a:srgbClr val="5C6B7A"/>
                </a:solidFill>
              </a:rPr>
              <a:t>nhiều kích thước • ánh sáng • góc nhìn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504B67-183D-4347-953C-6AC458DF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190750"/>
            <a:ext cx="1019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D4ED21-D72F-4D87-9E90-FDF3E56D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52550"/>
            <a:ext cx="36195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963A03-A796-43AE-88EF-5D236D9A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71625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D5C"/>
                </a:solidFill>
              </a:defRPr>
            </a:pPr>
            <a:r>
              <a:rPr sz="1800" b="1">
                <a:solidFill>
                  <a:srgbClr val="0B2D5C"/>
                </a:solidFill>
              </a:rPr>
              <a:t>PHÂN LOẠI 47 LỚP NVTS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07BDF1-A843-4516-B5D7-00A43CDA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7645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HOG + HSV  →  PCA  →  SVM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775765-1403-4B0A-81EC-7B7B1EE2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90750"/>
            <a:ext cx="942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33B3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5ADBBB-A3FD-46E7-A7B1-7F49626F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352550"/>
            <a:ext cx="25336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3B3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40B71E-326B-4D8A-8CCD-DB1256A2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573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33B3B"/>
                </a:solidFill>
              </a:defRPr>
            </a:pPr>
            <a:r>
              <a:rPr sz="1725" b="1">
                <a:solidFill>
                  <a:srgbClr val="E33B3B"/>
                </a:solidFill>
              </a:rPr>
              <a:t>Nhãn dự đoán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BB50AF-BEFC-4894-8E47-9FF7EBB2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2885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C6B7A"/>
                </a:solidFill>
              </a:defRPr>
            </a:pPr>
            <a:r>
              <a:rPr sz="1200" b="0">
                <a:solidFill>
                  <a:srgbClr val="5C6B7A"/>
                </a:solidFill>
              </a:rPr>
              <a:t>P.127_60  •  W.205c  •  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8A6865-9356-4389-A6CF-01D35BCC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71875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493D21-B7B9-47E5-9855-FB4580B1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308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69AA"/>
                </a:solidFill>
              </a:defRPr>
            </a:pPr>
            <a:r>
              <a:rPr sz="2250" b="1">
                <a:solidFill>
                  <a:srgbClr val="1769AA"/>
                </a:solidFill>
              </a:rPr>
              <a:t>47 lớp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CADC6-0FB9-462C-B488-1996C728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Nhiều lớp gần giống nhau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1DEDAB-1FE8-4D21-B352-38C2604B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71875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75EBD1-5DD7-4570-8C18-610BCFB0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52850"/>
            <a:ext cx="308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59E0B"/>
                </a:solidFill>
              </a:defRPr>
            </a:pPr>
            <a:r>
              <a:rPr sz="2250" b="1">
                <a:solidFill>
                  <a:srgbClr val="F59E0B"/>
                </a:solidFill>
              </a:rPr>
              <a:t>10 lớp &lt;30 ảnh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044F38-974D-493D-9CB4-48923448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57675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Mất cân bằng nghiêm trọng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14EA22-8E72-458A-AE95-BC7EB256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71875"/>
            <a:ext cx="3429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3B3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7B8007-2DEB-41D6-986E-9607831A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52850"/>
            <a:ext cx="308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33B3B"/>
                </a:solidFill>
              </a:defRPr>
            </a:pPr>
            <a:r>
              <a:rPr sz="2250" b="1">
                <a:solidFill>
                  <a:srgbClr val="E33B3B"/>
                </a:solidFill>
              </a:rPr>
              <a:t>Macro F1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B1E2E2-9D82-44A2-A338-8EC13CEB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57675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Metric lựa chọn chính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AE7354-BBCE-411E-A52B-FFF09A67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D5C"/>
                </a:solidFill>
              </a:defRPr>
            </a:pPr>
            <a:r>
              <a:rPr sz="1500" b="1">
                <a:solidFill>
                  <a:srgbClr val="0B2D5C"/>
                </a:solidFill>
              </a:rPr>
              <a:t>Mục tiêu: hiệu năng cao • nhận diện tốt lớp hiếm • độ trễ thấp • không phụ thuộc deep learning cồng kềnh</a:t>
            </a:r>
          </a:p>
        </p:txBody>
      </p:sp>
    </p:spTree>
    <p:extLst>
      <p:ext uri="{BB962C8B-B14F-4D97-AF65-F5344CB8AC3E}">
        <p14:creationId xmlns:p14="http://schemas.microsoft.com/office/powerpoint/2010/main" val="12727755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9EC645-9486-4722-BF8F-898ADF3A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9383D-D13F-47F4-B3C0-696579CD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D5C"/>
                </a:solidFill>
              </a:defRPr>
            </a:pPr>
            <a:r>
              <a:rPr sz="1800" b="1">
                <a:solidFill>
                  <a:srgbClr val="0A325A"/>
                </a:solidFill>
                <a:latin typeface="Aptos"/>
              </a:rPr>
              <a:t>Pipeline phase-new kế thừa từ phase-old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FE8DF-A6A7-4664-8AD6-CA026E32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669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71825-7A3B-4DAB-9D4E-BB22E594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9AA"/>
                </a:solidFill>
              </a:defRPr>
            </a:pPr>
            <a:r>
              <a:rPr sz="1125" b="1">
                <a:solidFill>
                  <a:srgbClr val="1769AA"/>
                </a:solidFill>
              </a:rPr>
              <a:t>Nguyễn LK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D61CD-8DCF-40C2-8178-254BB243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A"/>
                </a:solidFill>
              </a:defRPr>
            </a:pPr>
            <a:r>
              <a:rPr sz="600">
                <a:solidFill>
                  <a:srgbClr val="5C6F82"/>
                </a:solidFill>
                <a:latin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5DF6F-A9F3-4B22-A759-FD3AE21E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B7A"/>
                </a:solidFill>
              </a:defRPr>
            </a:pPr>
            <a:r>
              <a:rPr sz="900" b="1">
                <a:solidFill>
                  <a:srgbClr val="5C6B7A"/>
                </a:solidFill>
              </a:rPr>
              <a:t>AIL303m • GROUP 6 • SUMMER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2A664-155A-4A13-BCFE-1FAC3082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3716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456A3-2821-4A9F-B66C-EDB5349A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04900"/>
            <a:ext cx="381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4D8F2-C43B-4E1B-B726-4D9F6056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239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17E39E-967F-490E-B542-674A5DFB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8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D5C"/>
                </a:solidFill>
              </a:defRPr>
            </a:pPr>
            <a:r>
              <a:rPr sz="1125" b="1">
                <a:solidFill>
                  <a:srgbClr val="0B2D5C"/>
                </a:solidFill>
              </a:rPr>
              <a:t>ẢNH CROP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22F84D-4A1C-48C1-876C-081DBE97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78117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1E8178-5DA5-4136-AA54-46ECE557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285875"/>
            <a:ext cx="13716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5CD5BC-F603-4B49-90BE-A402511B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104900"/>
            <a:ext cx="381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A14333-9642-4C57-9609-2E43E6CD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1239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293FF7-3BC0-4B8D-B036-8F01FC8F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466850"/>
            <a:ext cx="118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D5C"/>
                </a:solidFill>
              </a:defRPr>
            </a:pPr>
            <a:r>
              <a:rPr sz="1125" b="1">
                <a:solidFill>
                  <a:srgbClr val="0B2D5C"/>
                </a:solidFill>
              </a:rPr>
              <a:t>64×64</a:t>
            </a:r>
          </a:p>
          <a:p xmlns:a="http://schemas.openxmlformats.org/drawingml/2006/main">
            <a:pPr algn="ctr">
              <a:defRPr sz="1125" b="1">
                <a:solidFill>
                  <a:srgbClr val="0B2D5C"/>
                </a:solidFill>
              </a:defRPr>
            </a:pPr>
            <a:r>
              <a:rPr sz="1125" b="1">
                <a:solidFill>
                  <a:srgbClr val="0B2D5C"/>
                </a:solidFill>
              </a:rPr>
              <a:t>PAD SQUARE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A01A9E-680C-4461-A58E-DB8D27F8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78117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9EB131-5702-4AF9-A38B-43A22D97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85875"/>
            <a:ext cx="13716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5C21C7-9D91-4E66-AC0A-C7466385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104900"/>
            <a:ext cx="381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1811F6-5F98-4BB9-95FB-E1D5200F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1239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7C438B-7E46-45C0-83CD-C143F4E0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466850"/>
            <a:ext cx="118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D5C"/>
                </a:solidFill>
              </a:defRPr>
            </a:pPr>
            <a:r>
              <a:rPr sz="1125" b="1">
                <a:solidFill>
                  <a:srgbClr val="0B2D5C"/>
                </a:solidFill>
              </a:rPr>
              <a:t>HOG GRAY</a:t>
            </a:r>
          </a:p>
          <a:p xmlns:a="http://schemas.openxmlformats.org/drawingml/2006/main">
            <a:pPr algn="ctr">
              <a:defRPr sz="1125" b="1">
                <a:solidFill>
                  <a:srgbClr val="0B2D5C"/>
                </a:solidFill>
              </a:defRPr>
            </a:pPr>
            <a:r>
              <a:rPr sz="1125" b="1">
                <a:solidFill>
                  <a:srgbClr val="0B2D5C"/>
                </a:solidFill>
              </a:rPr>
              <a:t>+ HSV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6D7535-D153-4357-B642-EBB5C687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8117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61611F-185D-4BDA-86E7-DA755BE4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285875"/>
            <a:ext cx="13716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F39801-0732-475D-A97F-310A17F5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104900"/>
            <a:ext cx="381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28E2E5-4657-4257-A2E6-CF2F33B5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1239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B7DA57-CA55-42B9-B549-CE1C4384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66850"/>
            <a:ext cx="118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D5C"/>
                </a:solidFill>
              </a:defRPr>
            </a:pPr>
            <a:r>
              <a:rPr sz="1125" b="1">
                <a:solidFill>
                  <a:srgbClr val="0B2D5C"/>
                </a:solidFill>
              </a:rPr>
              <a:t>STANDARD</a:t>
            </a:r>
          </a:p>
          <a:p xmlns:a="http://schemas.openxmlformats.org/drawingml/2006/main">
            <a:pPr algn="ctr">
              <a:defRPr sz="1125" b="1">
                <a:solidFill>
                  <a:srgbClr val="0B2D5C"/>
                </a:solidFill>
              </a:defRPr>
            </a:pPr>
            <a:r>
              <a:rPr sz="1125" b="1">
                <a:solidFill>
                  <a:srgbClr val="0B2D5C"/>
                </a:solidFill>
              </a:rPr>
              <a:t>SCALER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E48383-70ED-4028-9C05-5D968898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78117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79243A-D4BB-45FC-A94C-67D3E844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285875"/>
            <a:ext cx="13716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0B98D4-3C9F-4359-A209-317F30ED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04900"/>
            <a:ext cx="381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4C14EF-9280-41B6-9296-1B708714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1239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259887-15EF-4772-A8F7-5AA6181B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466850"/>
            <a:ext cx="118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D5C"/>
                </a:solidFill>
              </a:defRPr>
            </a:pPr>
            <a:r>
              <a:rPr sz="1125" b="1">
                <a:solidFill>
                  <a:srgbClr val="0B2D5C"/>
                </a:solidFill>
              </a:rPr>
              <a:t>PCA 95%</a:t>
            </a:r>
          </a:p>
          <a:p xmlns:a="http://schemas.openxmlformats.org/drawingml/2006/main">
            <a:pPr algn="ctr">
              <a:defRPr sz="1125" b="1">
                <a:solidFill>
                  <a:srgbClr val="0B2D5C"/>
                </a:solidFill>
              </a:defRPr>
            </a:pPr>
            <a:r>
              <a:rPr sz="1125" b="1">
                <a:solidFill>
                  <a:srgbClr val="0B2D5C"/>
                </a:solidFill>
              </a:rPr>
              <a:t>571 CHIỀU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BA56C6-3176-42B2-A6AD-F59E4188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78117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3C5C27-696A-4869-AC15-C0FA8B14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285875"/>
            <a:ext cx="13716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62E362-D190-4B08-BE6F-EB5FB886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104900"/>
            <a:ext cx="381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1EEFBB-1813-48C3-8A49-D1E8C77A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1239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37ACD5-8EAC-40F7-9D61-DFC01C98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466850"/>
            <a:ext cx="118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D5C"/>
                </a:solidFill>
              </a:defRPr>
            </a:pPr>
            <a:r>
              <a:rPr sz="1125" b="1">
                <a:solidFill>
                  <a:srgbClr val="0B2D5C"/>
                </a:solidFill>
              </a:rPr>
              <a:t>LINEAR SVM</a:t>
            </a:r>
          </a:p>
          <a:p xmlns:a="http://schemas.openxmlformats.org/drawingml/2006/main">
            <a:pPr algn="ctr">
              <a:defRPr sz="1125" b="1">
                <a:solidFill>
                  <a:srgbClr val="0B2D5C"/>
                </a:solidFill>
              </a:defRPr>
            </a:pPr>
            <a:r>
              <a:rPr sz="1125" b="1">
                <a:solidFill>
                  <a:srgbClr val="0B2D5C"/>
                </a:solidFill>
              </a:rPr>
              <a:t>C=0,1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C15C5D-8868-4425-ADFD-F4B48355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78117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33B3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B7790D-0C44-42C1-B06D-B2E3D6E1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285875"/>
            <a:ext cx="13716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E33B3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D3FE24-5D80-4435-94B1-FFB85808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104900"/>
            <a:ext cx="381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33B3B"/>
          </a:solidFill>
          <a:ln xmlns:a="http://schemas.openxmlformats.org/drawingml/2006/main" w="9525">
            <a:solidFill>
              <a:srgbClr val="E33B3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3214C9-01E2-4DE6-83AB-35D4D3DF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11239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C4A822-172E-47D4-9A57-E11AFACB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466850"/>
            <a:ext cx="118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33B3B"/>
                </a:solidFill>
              </a:defRPr>
            </a:pPr>
            <a:r>
              <a:rPr sz="1125" b="1">
                <a:solidFill>
                  <a:srgbClr val="E33B3B"/>
                </a:solidFill>
              </a:rPr>
              <a:t>47 NHÃN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C40125-1B07-428F-BB23-3A7C10FC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512445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2F0F60-45D3-4FCD-9AE6-9A21F267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2286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016726-BEC3-4A85-B94E-8AA0F47A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PHASE 1 • KHÓA RBF SVM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D09C3E-5CDA-4729-B309-1C4A5C4E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4385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D5C"/>
                </a:solidFill>
              </a:defRPr>
            </a:pPr>
            <a:r>
              <a:rPr sz="1875" b="1">
                <a:solidFill>
                  <a:srgbClr val="0B2D5C"/>
                </a:solidFill>
              </a:rPr>
              <a:t>Tối ưu biểu diễn dữ liệu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1FF9E9-232C-4806-B239-C4099CC7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905250"/>
            <a:ext cx="4143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M01  Phân tích dữ liệu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M02  Kích thước &amp; resize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M03  HOG &amp; HSV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M04  PCA &amp; augmentation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F135B26-A747-49DF-ABDF-E1A3D68D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81300"/>
            <a:ext cx="512445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48B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EDE8E3-F466-4852-A808-3E5730B3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71800"/>
            <a:ext cx="23812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7048B8"/>
          </a:solidFill>
          <a:ln xmlns:a="http://schemas.openxmlformats.org/drawingml/2006/main" w="9525">
            <a:solidFill>
              <a:srgbClr val="7048B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A01812-F8BA-405B-B830-13A43A2A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90850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PHASE 2 • CHỐT ĐẶC TRƯNG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7CD05A9-0813-4EB4-A99A-EB894107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4385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D5C"/>
                </a:solidFill>
              </a:defRPr>
            </a:pPr>
            <a:r>
              <a:rPr sz="1875" b="1">
                <a:solidFill>
                  <a:srgbClr val="0B2D5C"/>
                </a:solidFill>
              </a:rPr>
              <a:t>Tối ưu mô hình phân loại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9D86D2E-E255-4F9D-868C-8A6714F0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943350"/>
            <a:ext cx="4333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M05  Benchmark 6 mô hình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M06  So sánh kernel, C, class_weight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→ Chọn Linear SVM theo Val Macro F1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B7C0912-AA41-4D7F-B20B-9C96BB3F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62575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33B3B"/>
                </a:solidFill>
              </a:defRPr>
            </a:pPr>
            <a:r>
              <a:rPr sz="1350" b="1">
                <a:solidFill>
                  <a:srgbClr val="E33B3B"/>
                </a:solidFill>
              </a:rPr>
              <a:t>Nguyên tắc chống leakage: scaler và PCA chỉ fit trên train; augmentation chỉ áp dụng cho train.</a:t>
            </a:r>
          </a:p>
        </p:txBody>
      </p:sp>
      <p:sp xmlns:a="http://schemas.openxmlformats.org/drawingml/2006/main">
        <p:nvSpPr>
          <p:cNvPr id="52" name="Rounded Rectangle 51"/>
          <p:cNvSpPr/>
          <p:nvPr/>
        </p:nvSpPr>
        <p:spPr>
          <a:xfrm>
            <a:off x="338328" y="5806440"/>
            <a:ext cx="11521440" cy="310896"/>
          </a:xfrm>
          <a:prstGeom prst="roundRect">
            <a:avLst>
              <a:gd name="adj" fmla="val 12000"/>
            </a:avLst>
          </a:prstGeom>
          <a:solidFill>
            <a:srgbClr val="E9F2FA"/>
          </a:solidFill>
          <a:ln w="12700">
            <a:solidFill>
              <a:srgbClr val="005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819" b="0">
                <a:solidFill>
                  <a:srgbClr val="0A325A"/>
                </a:solidFill>
                <a:latin typeface="Aptos"/>
              </a:rPr>
              <a:t>Kế thừa phase-old: ưu tiên HOG + màu, loại feature yếu, rồi chuyển sang ablation M01–M06 có kiểm soát.</a:t>
            </a:r>
          </a:p>
        </p:txBody>
      </p:sp>
    </p:spTree>
    <p:extLst>
      <p:ext uri="{BB962C8B-B14F-4D97-AF65-F5344CB8AC3E}">
        <p14:creationId xmlns:p14="http://schemas.microsoft.com/office/powerpoint/2010/main" val="5704776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A537C1-E69A-43CC-AB54-9A8057E8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B3B"/>
          </a:solidFill>
          <a:ln xmlns:a="http://schemas.openxmlformats.org/drawingml/2006/main" w="0">
            <a:solidFill>
              <a:srgbClr val="E33B3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553E7-8216-42F5-999A-3FBAF5D9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D5C"/>
                </a:solidFill>
              </a:defRPr>
            </a:pPr>
            <a:r>
              <a:rPr sz="2250" b="1">
                <a:solidFill>
                  <a:srgbClr val="0B2D5C"/>
                </a:solidFill>
              </a:rPr>
              <a:t>M01 • Phân tích dữ liệu và lớp thiểu số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193F1-33DC-4703-9824-AF399895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669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3B3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4162A-915D-4F19-A4A1-B7D08F21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33B3B"/>
                </a:solidFill>
              </a:defRPr>
            </a:pPr>
            <a:r>
              <a:rPr sz="1125" b="1">
                <a:solidFill>
                  <a:srgbClr val="E33B3B"/>
                </a:solidFill>
              </a:rPr>
              <a:t>Kiệt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6507A-83D8-4669-97D8-F4F253BC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A"/>
                </a:solidFill>
              </a:defRPr>
            </a:pPr>
            <a:r>
              <a:rPr sz="600">
                <a:solidFill>
                  <a:srgbClr val="5C6F82"/>
                </a:solidFill>
                <a:latin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49E876-09FE-48E1-A1A5-C522EC86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B7A"/>
                </a:solidFill>
              </a:defRPr>
            </a:pPr>
            <a:r>
              <a:rPr sz="900" b="1">
                <a:solidFill>
                  <a:srgbClr val="5C6B7A"/>
                </a:solidFill>
              </a:rPr>
              <a:t>AIL303m • GROUP 6 • SUMMER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660F8-A090-42FD-97C4-4F0EEDDE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95375"/>
            <a:ext cx="2095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C588CA-9884-4D9E-A2B8-DB9A3E04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228725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69AA"/>
                </a:solidFill>
              </a:defRPr>
            </a:pPr>
            <a:r>
              <a:rPr sz="2550" b="1">
                <a:solidFill>
                  <a:srgbClr val="1769AA"/>
                </a:solidFill>
              </a:rPr>
              <a:t>6.605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45319-98C5-4666-9FFC-B56AF241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335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C6B7A"/>
                </a:solidFill>
              </a:defRPr>
            </a:pPr>
            <a:r>
              <a:rPr sz="1050" b="1">
                <a:solidFill>
                  <a:srgbClr val="5C6B7A"/>
                </a:solidFill>
              </a:rPr>
              <a:t>TRAIN GỐC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96B32-4318-48AA-9BBB-0DF39AFE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095375"/>
            <a:ext cx="1905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97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278BD-B757-4F6B-BAEE-5B94AA03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22872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5976A"/>
                </a:solidFill>
              </a:defRPr>
            </a:pPr>
            <a:r>
              <a:rPr sz="2550" b="1">
                <a:solidFill>
                  <a:srgbClr val="15976A"/>
                </a:solidFill>
              </a:rPr>
              <a:t>824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B7D56-5476-4407-A910-9E6FB87C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7335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C6B7A"/>
                </a:solidFill>
              </a:defRPr>
            </a:pPr>
            <a:r>
              <a:rPr sz="1050" b="1">
                <a:solidFill>
                  <a:srgbClr val="5C6B7A"/>
                </a:solidFill>
              </a:rPr>
              <a:t>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A22EB2-5581-4FE9-92C6-B9858F3E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095375"/>
            <a:ext cx="1714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5D3ACD-E9F9-4D9B-889E-C1BEA65F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22872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59E0B"/>
                </a:solidFill>
              </a:defRPr>
            </a:pPr>
            <a:r>
              <a:rPr sz="2550" b="1">
                <a:solidFill>
                  <a:srgbClr val="F59E0B"/>
                </a:solidFill>
              </a:rPr>
              <a:t>851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50AC49-85FC-46E7-BD4A-7703D339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7335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C6B7A"/>
                </a:solidFill>
              </a:defRPr>
            </a:pPr>
            <a:r>
              <a:rPr sz="1050" b="1">
                <a:solidFill>
                  <a:srgbClr val="5C6B7A"/>
                </a:solidFill>
              </a:rPr>
              <a:t>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03CD4A-D725-477F-96C5-91D502CC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095375"/>
            <a:ext cx="2143125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3B3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8A950A-5AB9-43F1-B7E8-AC087795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1228725"/>
            <a:ext cx="1990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33B3B"/>
                </a:solidFill>
              </a:defRPr>
            </a:pPr>
            <a:r>
              <a:rPr sz="2550" b="1">
                <a:solidFill>
                  <a:srgbClr val="E33B3B"/>
                </a:solidFill>
              </a:rPr>
              <a:t>7.035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90F748-7FE0-4B00-9CEB-768F2655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733550"/>
            <a:ext cx="191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C6B7A"/>
                </a:solidFill>
              </a:defRPr>
            </a:pPr>
            <a:r>
              <a:rPr sz="1050" b="1">
                <a:solidFill>
                  <a:srgbClr val="5C6B7A"/>
                </a:solidFill>
              </a:rPr>
              <a:t>TRAIN SAU AUG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4B116F-8ED7-409A-B0D2-C9686521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095375"/>
            <a:ext cx="2095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48B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386523-EDA9-4BD6-87FE-C962A6BC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228725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7048B8"/>
                </a:solidFill>
              </a:defRPr>
            </a:pPr>
            <a:r>
              <a:rPr sz="600">
                <a:solidFill>
                  <a:srgbClr val="5C6F82"/>
                </a:solidFill>
                <a:latin typeface="Aptos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220EDF-B4EC-4267-8E30-97FC8D8D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335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C6B7A"/>
                </a:solidFill>
              </a:defRPr>
            </a:pPr>
            <a:r>
              <a:rPr sz="1050" b="1">
                <a:solidFill>
                  <a:srgbClr val="5C6B7A"/>
                </a:solidFill>
              </a:rPr>
              <a:t>LỚP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3EBF7E-56BA-4F89-A120-99C70BD1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5476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F255B1-838A-439D-A65C-6C80FC0A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D5C"/>
                </a:solidFill>
              </a:defRPr>
            </a:pPr>
            <a:r>
              <a:rPr sz="1725" b="1">
                <a:solidFill>
                  <a:srgbClr val="0B2D5C"/>
                </a:solidFill>
              </a:rPr>
              <a:t>10 lớp có dưới 30 ảnh train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3E4C76-F9BD-4134-83A6-5199FF79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34683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R.301e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0DEE26-5CAF-4228-91CC-528CF926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986" y="3181350"/>
            <a:ext cx="2789873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3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5DEF2E-273E-440B-8D4C-9876CB4E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986" y="3181350"/>
            <a:ext cx="1487932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B3B"/>
          </a:solidFill>
          <a:ln xmlns:a="http://schemas.openxmlformats.org/drawingml/2006/main" w="0">
            <a:solidFill>
              <a:srgbClr val="E33B3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E284FA-52F6-4923-9B51-051E7663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960" y="3143250"/>
            <a:ext cx="5772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33B3B"/>
                </a:solidFill>
              </a:defRPr>
            </a:pPr>
            <a:r>
              <a:rPr sz="600">
                <a:solidFill>
                  <a:srgbClr val="5C6F82"/>
                </a:solidFill>
                <a:latin typeface="Aptos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8F5C98-F01A-4ECE-BD1A-2DA6F677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134683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W.205c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266789-90C8-4B61-8559-D532CD47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986" y="3419475"/>
            <a:ext cx="2789873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3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0A5DC0-D757-4584-B784-5E3F2A2D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986" y="3419475"/>
            <a:ext cx="158092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B3B"/>
          </a:solidFill>
          <a:ln xmlns:a="http://schemas.openxmlformats.org/drawingml/2006/main" w="0">
            <a:solidFill>
              <a:srgbClr val="E33B3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E4BE99-28FF-4FBF-98B8-A5E7FEF1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960" y="3381375"/>
            <a:ext cx="5772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33B3B"/>
                </a:solidFill>
              </a:defRPr>
            </a:pPr>
            <a:r>
              <a:rPr sz="600">
                <a:solidFill>
                  <a:srgbClr val="5C6F82"/>
                </a:solidFill>
                <a:latin typeface="Aptos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3BF1AD-CA58-4260-96D9-438574C9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134683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I.409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D50BFA-5A36-440B-BCDB-1AC567E4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986" y="3657600"/>
            <a:ext cx="2789873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3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49760F-AD81-48B9-99CF-B6FD7FFC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986" y="3657600"/>
            <a:ext cx="185991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2E7F4C-0BC0-4781-B0B4-2D4EAFC6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960" y="3619500"/>
            <a:ext cx="5772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59E0B"/>
                </a:solidFill>
              </a:defRPr>
            </a:pPr>
            <a:r>
              <a:rPr sz="600">
                <a:solidFill>
                  <a:srgbClr val="5C6F82"/>
                </a:solidFill>
                <a:latin typeface="Aptos"/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41CB6F-A5D7-4408-83A0-C2B25F53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134683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S.505a XM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B2086B-EAB7-45E8-ACFC-48823EC4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986" y="3895725"/>
            <a:ext cx="2789873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3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080724-2569-415A-8864-AAA0CA46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986" y="3895725"/>
            <a:ext cx="185991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0C5C20-57F6-4B83-98E2-FAE1548C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960" y="3857625"/>
            <a:ext cx="5772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59E0B"/>
                </a:solidFill>
              </a:defRPr>
            </a:pPr>
            <a:r>
              <a:rPr sz="600">
                <a:solidFill>
                  <a:srgbClr val="5C6F82"/>
                </a:solidFill>
                <a:latin typeface="Aptos"/>
              </a:rPr>
              <a:t>05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D674C6-13CC-4563-B744-FD60D446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34683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S.505a XT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EBB2C1-1EF2-485A-ABFC-85264248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986" y="4133850"/>
            <a:ext cx="2789873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3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F4C034-9935-4EB7-A9E6-70ED3A6F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986" y="4133850"/>
            <a:ext cx="1952911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73E50C-DC76-4EFE-AEDF-D9863090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960" y="4095750"/>
            <a:ext cx="5772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59E0B"/>
                </a:solidFill>
              </a:defRPr>
            </a:pPr>
            <a:r>
              <a:rPr sz="600">
                <a:solidFill>
                  <a:srgbClr val="5C6F82"/>
                </a:solidFill>
                <a:latin typeface="Aptos"/>
              </a:rPr>
              <a:t>05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0063E2E-DA66-4EE3-B2A6-D4B382E4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3875"/>
            <a:ext cx="134683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W.239b_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EC3EC5-73EF-4B13-B73C-6B4FAC24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986" y="4371975"/>
            <a:ext cx="2789873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3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C36230-401E-46E7-A22F-FEFFC7EE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986" y="4371975"/>
            <a:ext cx="1952911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94B0D0C-E820-4D0E-9E32-A513D356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960" y="4333875"/>
            <a:ext cx="5772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59E0B"/>
                </a:solidFill>
              </a:defRPr>
            </a:pPr>
            <a:r>
              <a:rPr sz="600">
                <a:solidFill>
                  <a:srgbClr val="5C6F82"/>
                </a:solidFill>
                <a:latin typeface="Aptos"/>
              </a:rPr>
              <a:t>05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544F1DD-7B2A-432A-BBF7-AF60093D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34683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P.124d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82E4801-FC11-4F5D-80D4-91B66456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986" y="4610100"/>
            <a:ext cx="2789873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3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35EE77C-0D9D-4869-902B-DF0EA02B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986" y="4610100"/>
            <a:ext cx="2138902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BE94261-FCF9-48F7-81D4-29C6C29E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960" y="4572000"/>
            <a:ext cx="5772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59E0B"/>
                </a:solidFill>
              </a:defRPr>
            </a:pPr>
            <a:r>
              <a:rPr sz="600">
                <a:solidFill>
                  <a:srgbClr val="5C6F82"/>
                </a:solidFill>
                <a:latin typeface="Aptos"/>
              </a:rPr>
              <a:t>05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F0BDA35-1857-4C88-B32C-69DC6639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0125"/>
            <a:ext cx="134683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W.203c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A989854-7089-4E38-A630-25B2C1C8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986" y="4848225"/>
            <a:ext cx="2789873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3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2A8F535-BD78-41AA-9D89-5FA7257A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986" y="4848225"/>
            <a:ext cx="2138902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59FB002-8C82-47E8-8A80-AD5FC759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960" y="4810125"/>
            <a:ext cx="5772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59E0B"/>
                </a:solidFill>
              </a:defRPr>
            </a:pPr>
            <a:r>
              <a:rPr sz="600">
                <a:solidFill>
                  <a:srgbClr val="5C6F82"/>
                </a:solidFill>
                <a:latin typeface="Aptos"/>
              </a:rPr>
              <a:t>05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2688B74-9B6F-4445-B881-A4A82832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134683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W.205a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AD3FD42-75BF-4878-87B7-3C5F6DF5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986" y="5086350"/>
            <a:ext cx="2789873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3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0B9CAEF-F93C-43D7-ACB4-95596E26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986" y="5086350"/>
            <a:ext cx="24178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6E04154-BB43-4DAD-B23F-B77F8B6D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960" y="5048250"/>
            <a:ext cx="5772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59E0B"/>
                </a:solidFill>
              </a:defRPr>
            </a:pPr>
            <a:r>
              <a:rPr sz="600">
                <a:solidFill>
                  <a:srgbClr val="5C6F82"/>
                </a:solidFill>
                <a:latin typeface="Aptos"/>
              </a:rPr>
              <a:t>05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55264B8-3EC5-4A56-9CD7-E2558701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134683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W.225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38B91BB-9650-49BC-9C62-B68A907F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986" y="5324475"/>
            <a:ext cx="2789873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3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5F27C8D-5949-4CB8-9E4E-7F75FAFC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986" y="5324475"/>
            <a:ext cx="2603881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0EF5D50-B152-4661-BB26-80EE027F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960" y="5286375"/>
            <a:ext cx="5772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59E0B"/>
                </a:solidFill>
              </a:defRPr>
            </a:pPr>
            <a:r>
              <a:rPr sz="600">
                <a:solidFill>
                  <a:srgbClr val="5C6F82"/>
                </a:solidFill>
                <a:latin typeface="Aptos"/>
              </a:rPr>
              <a:t>05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04C2C51-B3AC-44D9-8B56-56A8BE08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71750"/>
            <a:ext cx="4857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31178EB-2352-4500-AF31-FBEB50AF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33675"/>
            <a:ext cx="433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9E0B"/>
                </a:solidFill>
              </a:defRPr>
            </a:pPr>
            <a:r>
              <a:rPr sz="1725" b="1">
                <a:solidFill>
                  <a:srgbClr val="F59E0B"/>
                </a:solidFill>
              </a:rPr>
              <a:t>Vấn đề cốt lõi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299E2F1-7F0D-4210-9D78-96F4121E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337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Accuracy có thể cao nhưng che khuất lỗi ở lớp hiếm. Vì vậy nhóm chọn Macro F1 để mỗi lớp đóng góp ngang nhau.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0BA2143-3770-4A1B-A31D-1811311F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67200"/>
            <a:ext cx="4857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9525">
            <a:solidFill>
              <a:srgbClr val="1597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F0AC2A6-5A47-46D7-A95B-B6784082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29125"/>
            <a:ext cx="433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976A"/>
                </a:solidFill>
              </a:defRPr>
            </a:pPr>
            <a:r>
              <a:rPr sz="1725" b="1">
                <a:solidFill>
                  <a:srgbClr val="15976A"/>
                </a:solidFill>
              </a:rPr>
              <a:t>Quyết định M01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C5C2A7A-F4D7-4C0F-87E9-EA41B5F1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3870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Chỉ augmentation 10 lớp thiểu số; bổ sung 430 ảnh. Validation và test giữ nguyên.</a:t>
            </a:r>
          </a:p>
        </p:txBody>
      </p:sp>
    </p:spTree>
    <p:extLst>
      <p:ext uri="{BB962C8B-B14F-4D97-AF65-F5344CB8AC3E}">
        <p14:creationId xmlns:p14="http://schemas.microsoft.com/office/powerpoint/2010/main" val="8940827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9A3257-D3A6-42C3-85E0-F2DC5144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830792-1A80-4D8A-A291-2EA70EC7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D5C"/>
                </a:solidFill>
              </a:defRPr>
            </a:pPr>
            <a:r>
              <a:rPr sz="2250" b="1">
                <a:solidFill>
                  <a:srgbClr val="0B2D5C"/>
                </a:solidFill>
              </a:rPr>
              <a:t>M02 • Kích thước ảnh và chế độ resize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F4B6E-9BAE-44E0-97B7-2D2C2885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669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C70044-7A2D-4078-93C2-5D315BA2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9E0B"/>
                </a:solidFill>
              </a:defRPr>
            </a:pPr>
            <a:r>
              <a:rPr sz="1125" b="1">
                <a:solidFill>
                  <a:srgbClr val="F59E0B"/>
                </a:solidFill>
              </a:rPr>
              <a:t>Nguyễn 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F465C-D906-48BB-AF44-B38C0DF8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A"/>
                </a:solidFill>
              </a:defRPr>
            </a:pPr>
            <a:r>
              <a:rPr sz="600">
                <a:solidFill>
                  <a:srgbClr val="5C6F82"/>
                </a:solidFill>
                <a:latin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359F7-68AE-4A55-AC7F-9E0C8A36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B7A"/>
                </a:solidFill>
              </a:defRPr>
            </a:pPr>
            <a:r>
              <a:rPr sz="900" b="1">
                <a:solidFill>
                  <a:srgbClr val="5C6B7A"/>
                </a:solidFill>
              </a:rPr>
              <a:t>AIL303m • GROUP 6 • SUMMER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F4A28-69FD-4B27-B070-8475914A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382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96153-A175-49AB-89A8-8BECCED1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763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Cấu hình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0A797-5A22-4884-B6C4-D43214D5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2382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176FC-B87C-4EF2-90AD-99584631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2763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Số chiều HOG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CA5D1C-0A4F-4CCA-80E8-2B90874F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2382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0D5F12-0A39-4D11-A55B-7029C71C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2763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Val Accuracy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AD73C9-C377-4ABB-B0DF-50640D77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2382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E80811-0F6E-4F4B-9C9B-8438F0A8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2763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Val Macro F1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81E51B-7460-4111-A4BD-F764B6D9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2382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C1C242-6DE2-489D-93F2-38194702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76350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Train (s)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212983-8518-4737-9900-A4B02917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3830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26EE23-17E6-4CB5-BE32-44E56E22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32×32 stretch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2F4344-DC17-46B4-9BFF-C4F500C1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383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3F805B-DE36-49FB-A16C-09BCA31B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764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1.764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4D0895-F2B8-4A9B-9FAE-A629A76E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383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5266BD-D620-4A3A-AD51-34A84405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764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95,15%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2080A2-97A8-44D7-BDD4-3CB3FA18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383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719D28-EDFD-41DC-BD02-04D33980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764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92,16%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69BA79-B08E-46B7-A674-2DA19F99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6383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804F07-3598-4952-8B91-C35832CB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76400"/>
            <a:ext cx="1533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18,51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A7DF0C-DF2B-4C11-B2DE-6C8BB400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383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9F1B59-507F-4D7A-9D54-B1E1AA3C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32×32 pad_square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FA7BCA-BAB3-4BDC-9093-07535938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383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B4BBFF-42E1-464D-9490-420F432F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764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1.764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CC12C8-E2E9-440A-AF1C-B5D421AD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383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D9C820-E620-427F-8624-47C4F1F1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764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94,90%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887322-4990-494A-BEE9-0C034189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0383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E64074-0031-42B1-81CB-5AF5747B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764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92,19%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E3942A-9A78-45D4-85F5-2B2FAC85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0383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3A30C2-0D70-4A25-A41A-256F3992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76450"/>
            <a:ext cx="1533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15,72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75F6A7-8249-4224-9772-E8703C35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3840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062D0E-4475-4C9B-B668-AF4251A9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48×48 stretch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E3EF7A-6F6C-4BAA-B75A-493A5F91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384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80E446-61A0-4466-8973-34372F3A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765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F5863F-8B65-49FF-86E6-8B783E23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4384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4E5961-1C52-45D7-BB3E-B1CD2BEE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765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96,48%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CDF1BC-8CCA-4D69-BFEF-E1C95670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4384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9871D9-FA05-433F-916C-45EE925F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765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95,95%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165799F-A3CC-425D-83BD-D3FAEAFC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4384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FA2F733-3976-456D-A534-8A20B36F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76500"/>
            <a:ext cx="1533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5,84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ECA806-FA99-4AB1-B8F3-C0451391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384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7805D87-4942-497F-8214-B191DECF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48×48 pad_square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AEF33EC-EDA7-4C51-8326-2E9DE988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8384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583CCBC-BABB-41A3-94DD-B46EA33E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765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A50E37F-9E1C-4300-9E7E-2EE9E534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384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CBA24F-EFBB-458E-BEEC-BCF235B5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765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96,12%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3A943DF-3A9B-4F35-A651-AC74A26D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8384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3339C0C-BC7A-449A-B091-68C1BF10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765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94,56%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6348BB4-226B-4983-8EA3-DFBE4B7F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384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A8FF895-A3A6-4D21-9FC5-C968171F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76550"/>
            <a:ext cx="1533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5,87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A4D4D05-B4D5-4ACF-B510-DD5825C0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91CB808-4748-42D8-A924-AC5E37B0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7660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64×64 stretch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7F72FCF-3D25-4D9A-BC95-948C34F4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2385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483F3A5-FDE2-405B-A0E6-01A16C73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766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1.764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323FECA-A423-42B4-B450-B2C8A500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385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5D2A111-149D-4ABE-9B47-B46666C9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766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95,87%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FBE3391-B468-4126-9B1F-80E3CBD9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385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1FD31B8-A3EF-40CC-9F56-9E8FAE42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766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94,04%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0ACD921-7ACF-4F79-AD04-C12AF717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2385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25AD7C1-B40A-44EB-9E47-CAE58EFC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76600"/>
            <a:ext cx="1533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13,07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D9413EE-352B-4796-84BA-3ADC4DB9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385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FF7B874-366A-4FEC-9066-4E281AD8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64×64 pad_square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2578629-2E17-496F-8A35-B660CCEA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6385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0D91C43-91CD-49B1-8A4E-C410206E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766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1.764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A2E8FAE-6856-49E0-BE6B-DD359EB6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385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DC0B3F1-ED57-4D3C-BE65-E607CF84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766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95,51%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1E43510-52EC-420F-8A61-673E9B9C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6385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0119288-AC46-4B5C-A5E2-122B4C04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766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93,44%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D082BFD-F2B2-4E74-A255-26136C83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385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A19354C-CE72-482A-AE82-08AA894A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76650"/>
            <a:ext cx="1533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13,52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021F8EC-89D0-41C9-A157-929C6DF3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33875"/>
            <a:ext cx="50673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9525">
            <a:solidFill>
              <a:srgbClr val="1597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3F02076-19D2-4194-B7F6-1546EB62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461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976A"/>
                </a:solidFill>
              </a:defRPr>
            </a:pPr>
            <a:r>
              <a:rPr sz="1650" b="1">
                <a:solidFill>
                  <a:srgbClr val="15976A"/>
                </a:solidFill>
              </a:rPr>
              <a:t>Kết quả ablation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74DF24B-9A75-4CFD-B4C3-662DA5A1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48×48 stretch đạt Macro F1 cao nhất: 95,95%. Kích thước lớn hơn không tự động tốt hơn.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6EFEA54-4B2A-4A81-AE9E-1E524478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33875"/>
            <a:ext cx="5762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2FB49C9-29DE-4E6A-9DD3-8FFAE9D2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76750"/>
            <a:ext cx="528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9E0B"/>
                </a:solidFill>
              </a:defRPr>
            </a:pPr>
            <a:r>
              <a:rPr sz="1650" b="1">
                <a:solidFill>
                  <a:srgbClr val="F59E0B"/>
                </a:solidFill>
              </a:rPr>
              <a:t>Vì sao final vẫn dùng 64×64 pad_square?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230617E-A7EB-4895-A827-B13AFC63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67275"/>
            <a:ext cx="5191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M02 chỉ dùng HOG Gray độc lập. Pipeline cuối còn HSV, PCA và augmentation; pad_square bảo toàn tỷ lệ hình học biển báo.</a:t>
            </a:r>
          </a:p>
        </p:txBody>
      </p:sp>
    </p:spTree>
    <p:extLst>
      <p:ext uri="{BB962C8B-B14F-4D97-AF65-F5344CB8AC3E}">
        <p14:creationId xmlns:p14="http://schemas.microsoft.com/office/powerpoint/2010/main" val="17920509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1785E0-73A2-49BB-9594-9E7A2716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D17E5-6E69-415C-9517-F96C49C5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D5C"/>
                </a:solidFill>
              </a:defRPr>
            </a:pPr>
            <a:r>
              <a:rPr sz="2250" b="1">
                <a:solidFill>
                  <a:srgbClr val="0B2D5C"/>
                </a:solidFill>
              </a:rPr>
              <a:t>M03 • Đặc trưng HOG và HSV Histogram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44746-4FBB-4678-8295-A21375BF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669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20068-7519-42D3-A3A2-2CFE1EDD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9E0B"/>
                </a:solidFill>
              </a:defRPr>
            </a:pPr>
            <a:r>
              <a:rPr sz="1125" b="1">
                <a:solidFill>
                  <a:srgbClr val="F59E0B"/>
                </a:solidFill>
              </a:rPr>
              <a:t>Nguyễn 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E182A-505E-44F7-812A-0D00B3AE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A"/>
                </a:solidFill>
              </a:defRPr>
            </a:pPr>
            <a:r>
              <a:rPr sz="600">
                <a:solidFill>
                  <a:srgbClr val="5C6F82"/>
                </a:solidFill>
                <a:latin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1B4D30-1EB5-488A-8C40-A5A55A23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B7A"/>
                </a:solidFill>
              </a:defRPr>
            </a:pPr>
            <a:r>
              <a:rPr sz="900" b="1">
                <a:solidFill>
                  <a:srgbClr val="5C6B7A"/>
                </a:solidFill>
              </a:rPr>
              <a:t>AIL303m • GROUP 6 • SUMMER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312E20-D714-444C-8BEE-5A618E9D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23950"/>
            <a:ext cx="3429000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D8A0D8-BCA3-4626-930B-EBB3C706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1445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9AA"/>
                </a:solidFill>
              </a:defRPr>
            </a:pPr>
            <a:r>
              <a:rPr sz="1875" b="1">
                <a:solidFill>
                  <a:srgbClr val="1769AA"/>
                </a:solidFill>
              </a:rPr>
              <a:t>HOG GRAY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B3E4A-71D3-4DB3-AF88-7CA85D47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2819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Mô tả hình dạng, cạnh và cấu trúc</a:t>
            </a:r>
          </a:p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• gradient theo hướng</a:t>
            </a:r>
          </a:p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• ít phụ thuộc màu</a:t>
            </a:r>
          </a:p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• mạnh với viền và ký hiệu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D4032-957A-43F1-884B-2DBFBF7D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23950"/>
            <a:ext cx="3429000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3B3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4A0D86-B63B-4647-B166-43122F10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31445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33B3B"/>
                </a:solidFill>
              </a:defRPr>
            </a:pPr>
            <a:r>
              <a:rPr sz="1875" b="1">
                <a:solidFill>
                  <a:srgbClr val="E33B3B"/>
                </a:solidFill>
              </a:rPr>
              <a:t>HSV HISTOGRAM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5CC51-6549-4142-A6BB-19F53A32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62125"/>
            <a:ext cx="2819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Mô tả phân bố màu tổng thể</a:t>
            </a:r>
          </a:p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• Hue: loại màu</a:t>
            </a:r>
          </a:p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• Saturation: độ bão hòa</a:t>
            </a:r>
          </a:p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• Value: độ sáng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1D0E11-E496-4778-BF66-3B0EE598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123950"/>
            <a:ext cx="3429000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EEFB"/>
          </a:solidFill>
          <a:ln xmlns:a="http://schemas.openxmlformats.org/drawingml/2006/main" w="9525">
            <a:solidFill>
              <a:srgbClr val="7048B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9F3DD5-7742-42C1-9729-33954E9E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31445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048B8"/>
                </a:solidFill>
              </a:defRPr>
            </a:pPr>
            <a:r>
              <a:rPr sz="1875" b="1">
                <a:solidFill>
                  <a:srgbClr val="7048B8"/>
                </a:solidFill>
              </a:rPr>
              <a:t>DUNG HỢP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EF44CA-A71D-421E-BC90-939C9D8C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47850"/>
            <a:ext cx="2819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HOG + HSV</a:t>
            </a:r>
          </a:p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→ vector 1.812 chiều</a:t>
            </a:r>
          </a:p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→ hình dạng + màu sắc bổ trợ nhau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185352-31C6-406D-AE95-748CAD19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45B579-AC2C-4D6E-ACF0-FAFD0750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004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Đặc trưng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906A2D-3257-4FC5-B50F-027007BA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62375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593A49-0751-4F9E-9BBF-97CF15A2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80047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Số chiều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BE1C4C-D977-4697-AB43-6DABD571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62375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7F6E08-883A-4ECC-BF35-1DA49125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80047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Val Accuracy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195402-7CDB-4ECE-ABF9-54BBB142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62375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BECBED-0FF3-49EF-AB40-C7D7B3BF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0047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Val Macro F1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5DB8E8-9009-4429-8997-0C68CAAD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62375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B34C3B-3E9E-401C-BA1D-8E472611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8004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Train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007898-4770-4658-9EEF-69C56982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00525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C22813-43E5-4319-8ED2-0BAC65C8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238625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HOG Gray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E56F58-452A-43BF-BD60-154610C2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AB2D79-E895-4720-8F00-2BB5A612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238625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B76309-5A76-4E7F-8E83-ECA3F3D8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00525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1CCCCE-09FF-4A64-B2E9-A0BE640E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238625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96,48%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90FE7F-1A1B-4128-A0B5-61D08E6B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00525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C56417-ED6A-4C93-8AE4-BFE4358B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238625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95,95%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A624B1-3AA4-4188-AD8A-B0CFB8FD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00525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8029CD-6584-432B-8239-E29DC706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4238625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6,33s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322082-7574-4FAC-A8C2-6C73167D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38675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92C58F-209F-454D-902E-6964C70A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76775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HOG YUV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75AEDC-F020-46C7-AB69-FA18AB33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38675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168248-AEBA-4237-B9A6-C1882EF3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676775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2.700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77CEF3-3AA0-485C-B643-487111F8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38675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AD7CA6-BD33-4590-B0FE-E9E7FA2F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676775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96,36%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B58568-FC1D-4BC0-80EC-AD7194F7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38675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BB040F-97FC-4669-8E43-4649DC3A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676775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94,75%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906DAD-C94C-4CAE-AFAB-B82399A1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638675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7E71C4A-6BF1-4C2F-A5B3-1198D8DC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4676775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25,60s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E655999-5202-42F2-A674-23B88215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76825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F33CDDA-AE87-4A85-B288-18A768F9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114925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HOG Gray + HSV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3EFA3B-79E5-4722-9932-15728D24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76825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F913756-C7AA-4F0C-A132-0DF7B20A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14925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1.412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D7598C1-F5E6-4B5F-A645-1B9D613B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76825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8E04E6A-76F7-487A-A8F9-3AACD486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114925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95,87%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05A0E6F-1129-490F-BCBE-9651AC56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76825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5F5FA65-3781-4D35-955C-ED14FAAF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114925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95,19%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30CD9A5-B2BB-4056-89E1-B222FE66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076825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749FA58-7665-4E42-8F87-039B3E5B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5114925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9,08s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7E77E91-9C7A-454D-98AC-A7EBB828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57825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HOG Gray thắng thí nghiệm riêng lẻ; HSV vẫn được giữ vì phát huy hiệu quả trong pipeline tích hợp với PCA + augmentation.</a:t>
            </a:r>
          </a:p>
        </p:txBody>
      </p:sp>
    </p:spTree>
    <p:extLst>
      <p:ext uri="{BB962C8B-B14F-4D97-AF65-F5344CB8AC3E}">
        <p14:creationId xmlns:p14="http://schemas.microsoft.com/office/powerpoint/2010/main" val="10087364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14E07B-5A3A-472D-9A77-BDDCE9EA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B3B"/>
          </a:solidFill>
          <a:ln xmlns:a="http://schemas.openxmlformats.org/drawingml/2006/main" w="0">
            <a:solidFill>
              <a:srgbClr val="E33B3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E7FEC-AEEA-471C-9E5A-B387465E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D5C"/>
                </a:solidFill>
              </a:defRPr>
            </a:pPr>
            <a:r>
              <a:rPr sz="2250" b="1">
                <a:solidFill>
                  <a:srgbClr val="0B2D5C"/>
                </a:solidFill>
              </a:rPr>
              <a:t>M04 • PCA và augmentation lớp thiểu số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462AE-898F-492D-AFCF-6CCF33A1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669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3B3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CE329-3410-4C71-8E4F-23522ACF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33B3B"/>
                </a:solidFill>
              </a:defRPr>
            </a:pPr>
            <a:r>
              <a:rPr sz="1125" b="1">
                <a:solidFill>
                  <a:srgbClr val="E33B3B"/>
                </a:solidFill>
              </a:rPr>
              <a:t>Kiệt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65741-15F2-44A5-8DAE-05FCA263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A"/>
                </a:solidFill>
              </a:defRPr>
            </a:pPr>
            <a:r>
              <a:rPr sz="600">
                <a:solidFill>
                  <a:srgbClr val="5C6F82"/>
                </a:solidFill>
                <a:latin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84C100-4804-4345-9D44-26FE1DAE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B7A"/>
                </a:solidFill>
              </a:defRPr>
            </a:pPr>
            <a:r>
              <a:rPr sz="900" b="1">
                <a:solidFill>
                  <a:srgbClr val="5C6B7A"/>
                </a:solidFill>
              </a:rPr>
              <a:t>AIL303m • GROUP 6 • SUMMER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20916-D2EC-4466-B7DA-5CD9D8B3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31432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C6B7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EEDB1-1E14-4967-A4BD-B30058C2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8572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5C6B7A"/>
          </a:solidFill>
          <a:ln xmlns:a="http://schemas.openxmlformats.org/drawingml/2006/main" w="9525">
            <a:solidFill>
              <a:srgbClr val="5C6B7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9243C-3B23-4D29-81FA-31AE7B16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09700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TN3.1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51C3D2-48EF-4EF6-91A2-31F62890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19275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2D5C"/>
                </a:solidFill>
              </a:defRPr>
            </a:pPr>
            <a:r>
              <a:rPr sz="1725" b="1">
                <a:solidFill>
                  <a:srgbClr val="0B2D5C"/>
                </a:solidFill>
              </a:rPr>
              <a:t>Không PCA</a:t>
            </a:r>
          </a:p>
          <a:p xmlns:a="http://schemas.openxmlformats.org/drawingml/2006/main">
            <a:pPr algn="ctr">
              <a:defRPr sz="1725" b="1">
                <a:solidFill>
                  <a:srgbClr val="0B2D5C"/>
                </a:solidFill>
              </a:defRPr>
            </a:pPr>
            <a:r>
              <a:rPr sz="1725" b="1">
                <a:solidFill>
                  <a:srgbClr val="0B2D5C"/>
                </a:solidFill>
              </a:rPr>
              <a:t>Không Aug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9ADD9-AB88-43F6-97C2-87AD5B7D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003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C6B7A"/>
                </a:solidFill>
              </a:defRPr>
            </a:pPr>
            <a:r>
              <a:rPr sz="1575" b="1">
                <a:solidFill>
                  <a:srgbClr val="5C6B7A"/>
                </a:solidFill>
              </a:rPr>
              <a:t>1.812 chiều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359048-273F-442E-BB66-8CD05060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Macro F1  94,85%  •  5,93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07AC5E-21B2-456E-8FB2-666F2B6C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32410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106C00-C5C2-4BFC-ACA7-633AA91A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219200"/>
            <a:ext cx="31432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0E1008-34C8-4027-B6E7-35D1F8D9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390650"/>
            <a:ext cx="8572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5CD705-1B30-4B75-92A7-DE5C569B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409700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TN3.2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D667DC-8A51-462C-B159-3ED70925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819275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2D5C"/>
                </a:solidFill>
              </a:defRPr>
            </a:pPr>
            <a:r>
              <a:rPr sz="1725" b="1">
                <a:solidFill>
                  <a:srgbClr val="0B2D5C"/>
                </a:solidFill>
              </a:rPr>
              <a:t>PCA 95%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6174BB-64AA-4E86-9518-CA1AC08C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003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69AA"/>
                </a:solidFill>
              </a:defRPr>
            </a:pPr>
            <a:r>
              <a:rPr sz="1575" b="1">
                <a:solidFill>
                  <a:srgbClr val="1769AA"/>
                </a:solidFill>
              </a:rPr>
              <a:t>569 chiều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EF8DDD-B932-4F92-A6DB-DD44345C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241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Macro F1  95,04%  •  1,91 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019659-ADA9-4C66-A6A7-62B6FF6A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2410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33B3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09FE73-3F0F-4BFB-B841-65473E8E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219200"/>
            <a:ext cx="31432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3B3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4C04F5-4520-4272-8FA8-A0E9DE91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390650"/>
            <a:ext cx="8572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33B3B"/>
          </a:solidFill>
          <a:ln xmlns:a="http://schemas.openxmlformats.org/drawingml/2006/main" w="9525">
            <a:solidFill>
              <a:srgbClr val="E33B3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B49E09-0C9F-47CB-A9CB-2A65E6C8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409700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TN3.3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7779E4-DC99-4EC8-A491-52C4FC2D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19275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2D5C"/>
                </a:solidFill>
              </a:defRPr>
            </a:pPr>
            <a:r>
              <a:rPr sz="1725" b="1">
                <a:solidFill>
                  <a:srgbClr val="0B2D5C"/>
                </a:solidFill>
              </a:rPr>
              <a:t>PCA + Aug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92F902-2346-4920-BF5E-2A5C5BD7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003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33B3B"/>
                </a:solidFill>
              </a:defRPr>
            </a:pPr>
            <a:r>
              <a:rPr sz="1575" b="1">
                <a:solidFill>
                  <a:srgbClr val="E33B3B"/>
                </a:solidFill>
              </a:rPr>
              <a:t>571 chiều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A873E1-8A3B-4860-8A42-B2FB50BF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241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Macro F1  95,77%  •  1,96 ms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7CF544-8CC8-4FD0-946A-081EAA59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2714625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133905-E7C9-43A9-9BC0-EB18D525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6700"/>
            <a:ext cx="2562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69AA"/>
                </a:solidFill>
              </a:defRPr>
            </a:pPr>
            <a:r>
              <a:rPr sz="2550" b="1">
                <a:solidFill>
                  <a:srgbClr val="1769AA"/>
                </a:solidFill>
              </a:rPr>
              <a:t>−68,5%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211CAA-592B-46CF-B1FE-7865A67E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81525"/>
            <a:ext cx="2486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C6B7A"/>
                </a:solidFill>
              </a:defRPr>
            </a:pPr>
            <a:r>
              <a:rPr sz="1050" b="1">
                <a:solidFill>
                  <a:srgbClr val="5C6B7A"/>
                </a:solidFill>
              </a:rPr>
              <a:t>SỐ CHIỀU SAU PCA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B32614-7CAF-426F-B3A0-F8CEB71D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943350"/>
            <a:ext cx="2714625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97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ED0C13-B8F6-4B38-BDE6-19DDCD6B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076700"/>
            <a:ext cx="2562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5976A"/>
                </a:solidFill>
              </a:defRPr>
            </a:pPr>
            <a:r>
              <a:rPr sz="2550" b="1">
                <a:solidFill>
                  <a:srgbClr val="15976A"/>
                </a:solidFill>
              </a:rPr>
              <a:t>3,1×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C2A21A-0B3C-44D1-8BE5-D7AC5651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581525"/>
            <a:ext cx="2486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C6B7A"/>
                </a:solidFill>
              </a:defRPr>
            </a:pPr>
            <a:r>
              <a:rPr sz="1050" b="1">
                <a:solidFill>
                  <a:srgbClr val="5C6B7A"/>
                </a:solidFill>
              </a:rPr>
              <a:t>INFERENCE NHANH HƠN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72BFE2-686E-4718-B560-BAE24BEE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43350"/>
            <a:ext cx="2714625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B7B85D-43EF-41AC-B58D-493A430D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76700"/>
            <a:ext cx="2562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59E0B"/>
                </a:solidFill>
              </a:defRPr>
            </a:pPr>
            <a:r>
              <a:rPr sz="2550" b="1">
                <a:solidFill>
                  <a:srgbClr val="F59E0B"/>
                </a:solidFill>
              </a:rPr>
              <a:t>+430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9FC5FD-1A66-4EBD-9885-BBBD6A1C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81525"/>
            <a:ext cx="2486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C6B7A"/>
                </a:solidFill>
              </a:defRPr>
            </a:pPr>
            <a:r>
              <a:rPr sz="1050" b="1">
                <a:solidFill>
                  <a:srgbClr val="5C6B7A"/>
                </a:solidFill>
              </a:rPr>
              <a:t>ẢNH LỚP THIỂU SỐ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1DF308-02CF-4922-AFAE-9A328AA1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943350"/>
            <a:ext cx="1809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3B3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ABB468-A6D2-4450-BCC5-9476593E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0767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33B3B"/>
                </a:solidFill>
              </a:defRPr>
            </a:pPr>
            <a:r>
              <a:rPr sz="2550" b="1">
                <a:solidFill>
                  <a:srgbClr val="E33B3B"/>
                </a:solidFill>
              </a:rPr>
              <a:t>+0,73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D347B7-229F-43F1-93CB-26FD610E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58152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C6B7A"/>
                </a:solidFill>
              </a:defRPr>
            </a:pPr>
            <a:r>
              <a:rPr sz="1050" b="1">
                <a:solidFill>
                  <a:srgbClr val="5C6B7A"/>
                </a:solidFill>
              </a:rPr>
              <a:t>ĐIỂM % MACRO F1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8D6457-A22C-4EFB-9C1E-4189745F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816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D5C"/>
                </a:solidFill>
              </a:defRPr>
            </a:pPr>
            <a:r>
              <a:rPr sz="1500" b="1">
                <a:solidFill>
                  <a:srgbClr val="0B2D5C"/>
                </a:solidFill>
              </a:rPr>
              <a:t>PCA vừa giảm chi phí vừa tăng nhẹ Macro F1; augmentation tiếp tục cải thiện khả năng nhận diện lớp hiếm.</a:t>
            </a:r>
          </a:p>
        </p:txBody>
      </p:sp>
    </p:spTree>
    <p:extLst>
      <p:ext uri="{BB962C8B-B14F-4D97-AF65-F5344CB8AC3E}">
        <p14:creationId xmlns:p14="http://schemas.microsoft.com/office/powerpoint/2010/main" val="15500544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721234-A4D8-4007-BE84-4E7BBAA0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8B8"/>
          </a:solidFill>
          <a:ln xmlns:a="http://schemas.openxmlformats.org/drawingml/2006/main" w="0">
            <a:solidFill>
              <a:srgbClr val="7048B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32B1A-676E-452B-945C-50F91BCE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D5C"/>
                </a:solidFill>
              </a:defRPr>
            </a:pPr>
            <a:r>
              <a:rPr sz="2250" b="1">
                <a:solidFill>
                  <a:srgbClr val="0B2D5C"/>
                </a:solidFill>
              </a:rPr>
              <a:t>M05 • Benchmark sáu mô hình học máy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9F4B9-F9F7-4155-A94B-07645FDC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669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48B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5885E-A20B-4110-AC90-273216D7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048B8"/>
                </a:solidFill>
              </a:defRPr>
            </a:pPr>
            <a:r>
              <a:rPr sz="1125" b="1">
                <a:solidFill>
                  <a:srgbClr val="7048B8"/>
                </a:solidFill>
              </a:rPr>
              <a:t>TruongwfDt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67E22-B914-43C9-A80D-0FD98F67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A"/>
                </a:solidFill>
              </a:defRPr>
            </a:pPr>
            <a:r>
              <a:rPr sz="600">
                <a:solidFill>
                  <a:srgbClr val="5C6F82"/>
                </a:solidFill>
                <a:latin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DC167-CC53-412C-8728-A87774F8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B7A"/>
                </a:solidFill>
              </a:defRPr>
            </a:pPr>
            <a:r>
              <a:rPr sz="900" b="1">
                <a:solidFill>
                  <a:srgbClr val="5C6B7A"/>
                </a:solidFill>
              </a:rPr>
              <a:t>AIL303m • GROUP 6 • SUMMER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017F94-6AC7-4798-9D34-135E0BC0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23950"/>
            <a:ext cx="7143750" cy="42672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8ADE1-4312-4446-BF60-B29A2E13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7635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D5C"/>
                </a:solidFill>
              </a:defRPr>
            </a:pPr>
            <a:r>
              <a:rPr sz="1650" b="1">
                <a:solidFill>
                  <a:srgbClr val="0B2D5C"/>
                </a:solidFill>
              </a:rPr>
              <a:t>Macro F1 trên validation (%)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4A109A-2D29-4F53-85B7-4C65FF8F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62125"/>
            <a:ext cx="1800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SVC RBF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C301DB-4C2B-414A-AE3C-D8F6B8FE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669" y="1800225"/>
            <a:ext cx="3729038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3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2E3660-BD43-4B6F-80D3-92B7284B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669" y="1800225"/>
            <a:ext cx="3582207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B3B"/>
          </a:solidFill>
          <a:ln xmlns:a="http://schemas.openxmlformats.org/drawingml/2006/main" w="0">
            <a:solidFill>
              <a:srgbClr val="E33B3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707849-5CEE-4518-8BF4-B4B512D3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62125"/>
            <a:ext cx="771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33B3B"/>
                </a:solidFill>
              </a:defRPr>
            </a:pPr>
            <a:r>
              <a:rPr sz="1050" b="1">
                <a:solidFill>
                  <a:srgbClr val="E33B3B"/>
                </a:solidFill>
              </a:rPr>
              <a:t>15,37%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23CE03-1CA6-4851-BC32-6B847643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1800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Logistic Regression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DCE99-37DF-4262-BEE7-C93D6F0E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669" y="2324100"/>
            <a:ext cx="3729038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3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41DC97-969A-41B5-AB75-D6D28B18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669" y="2324100"/>
            <a:ext cx="3454021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053738-D586-4122-8D91-EAF7F5F7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771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14,82%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EDE286-66E7-47B8-9B23-8471ACD4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9875"/>
            <a:ext cx="1800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KNN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0BB315-067E-443B-8B62-4285007F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669" y="2847975"/>
            <a:ext cx="3729038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3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F073BE-A1FA-490C-8CDE-59DD0A35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669" y="2847975"/>
            <a:ext cx="331651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76A"/>
          </a:solidFill>
          <a:ln xmlns:a="http://schemas.openxmlformats.org/drawingml/2006/main" w="0">
            <a:solidFill>
              <a:srgbClr val="1597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D3FA0F-B152-47CE-BB1C-19777C69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9875"/>
            <a:ext cx="771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5976A"/>
                </a:solidFill>
              </a:defRPr>
            </a:pPr>
            <a:r>
              <a:rPr sz="1050" b="1">
                <a:solidFill>
                  <a:srgbClr val="15976A"/>
                </a:solidFill>
              </a:rPr>
              <a:t>14,23%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C13A2A-7171-4679-B07D-50623E18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1800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MLP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C37567-24C3-4D24-88B3-A6F6450D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669" y="3371850"/>
            <a:ext cx="3729038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3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5B3A77-70D0-44C8-A9E6-C2C8B2BC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669" y="3371850"/>
            <a:ext cx="31743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0AC881-01AB-418B-8178-15ED0114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771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59E0B"/>
                </a:solidFill>
              </a:defRPr>
            </a:pPr>
            <a:r>
              <a:rPr sz="1050" b="1">
                <a:solidFill>
                  <a:srgbClr val="F59E0B"/>
                </a:solidFill>
              </a:rPr>
              <a:t>13,62%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14E0B0-7FD9-40AD-AEDD-93CF5904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57625"/>
            <a:ext cx="1800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LightGBM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607899-79F6-4B88-BB30-3E562B51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669" y="3895725"/>
            <a:ext cx="3729038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3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68DB23-3DA8-49EF-A4C4-2250BEF0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669" y="3895725"/>
            <a:ext cx="156153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8B8"/>
          </a:solidFill>
          <a:ln xmlns:a="http://schemas.openxmlformats.org/drawingml/2006/main" w="0">
            <a:solidFill>
              <a:srgbClr val="7048B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F29614-43B8-4AD2-B66E-CE595804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57625"/>
            <a:ext cx="771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048B8"/>
                </a:solidFill>
              </a:defRPr>
            </a:pPr>
            <a:r>
              <a:rPr sz="1050" b="1">
                <a:solidFill>
                  <a:srgbClr val="7048B8"/>
                </a:solidFill>
              </a:rPr>
              <a:t>6,70%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0169DD-0D4F-4027-85B5-9D011DE9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1800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Random Forest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D9FAC8-8F81-4B9B-9276-81329837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669" y="4419600"/>
            <a:ext cx="3729038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3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315C7F-26B6-4E42-8922-94EA42A4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669" y="4419600"/>
            <a:ext cx="1104727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B7A"/>
          </a:solidFill>
          <a:ln xmlns:a="http://schemas.openxmlformats.org/drawingml/2006/main" w="0">
            <a:solidFill>
              <a:srgbClr val="5C6B7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78EF10-CA1E-48D8-97FC-DD09AF3C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81500"/>
            <a:ext cx="771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A"/>
                </a:solidFill>
              </a:defRPr>
            </a:pPr>
            <a:r>
              <a:rPr sz="1050" b="1">
                <a:solidFill>
                  <a:srgbClr val="5C6B7A"/>
                </a:solidFill>
              </a:rPr>
              <a:t>4,74%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C4F72C-2437-4A17-BC8D-94D4B53B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123950"/>
            <a:ext cx="3619500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E33B3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E16492-4F94-41AE-9FDF-57FFAD85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33500"/>
            <a:ext cx="309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33B3B"/>
                </a:solidFill>
              </a:defRPr>
            </a:pPr>
            <a:r>
              <a:rPr sz="1650" b="1">
                <a:solidFill>
                  <a:srgbClr val="E33B3B"/>
                </a:solidFill>
              </a:rPr>
              <a:t>Dẫn đầu benchmark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0E5131-7012-413D-A559-6F41B942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095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2D5C"/>
                </a:solidFill>
              </a:defRPr>
            </a:pPr>
            <a:r>
              <a:rPr sz="1875" b="1">
                <a:solidFill>
                  <a:srgbClr val="0B2D5C"/>
                </a:solidFill>
              </a:rPr>
              <a:t>SVC RBF</a:t>
            </a:r>
          </a:p>
          <a:p xmlns:a="http://schemas.openxmlformats.org/drawingml/2006/main">
            <a:pPr algn="ctr">
              <a:defRPr sz="1875" b="1">
                <a:solidFill>
                  <a:srgbClr val="0B2D5C"/>
                </a:solidFill>
              </a:defRPr>
            </a:pPr>
            <a:r>
              <a:rPr sz="1875" b="1">
                <a:solidFill>
                  <a:srgbClr val="0B2D5C"/>
                </a:solidFill>
              </a:rPr>
              <a:t>Macro F1 95,37%</a:t>
            </a:r>
          </a:p>
          <a:p xmlns:a="http://schemas.openxmlformats.org/drawingml/2006/main">
            <a:pPr algn="ctr">
              <a:defRPr sz="1875" b="1">
                <a:solidFill>
                  <a:srgbClr val="0B2D5C"/>
                </a:solidFill>
              </a:defRPr>
            </a:pPr>
            <a:r>
              <a:rPr sz="1875" b="1">
                <a:solidFill>
                  <a:srgbClr val="0B2D5C"/>
                </a:solidFill>
              </a:rPr>
              <a:t>Minority Recall 86,67%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CDB835-C527-4529-86DC-0D34B66F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81375"/>
            <a:ext cx="3619500" cy="2009775"/>
          </a:xfrm>
          <a:prstGeom xmlns:a="http://schemas.openxmlformats.org/drawingml/2006/main" prst="roundRect">
            <a:avLst>
              <a:gd name="adj" fmla="val 5687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FE074F-1EDE-4669-B7B2-4B954D8B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52825"/>
            <a:ext cx="309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Tín hiệu quan trọng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FCD680-D073-4F91-A865-5FC3FCA5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71925"/>
            <a:ext cx="3095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Logistic Regression chỉ thấp hơn 0,55 điểm %. Không gian PCA đã khá phù hợp với ranh giới tuyến tính.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4A4251-4DDB-4CDF-BFBB-01F517FC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292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C6B7A"/>
                </a:solidFill>
              </a:defRPr>
            </a:pPr>
            <a:r>
              <a:rPr sz="1200" b="1">
                <a:solidFill>
                  <a:srgbClr val="5C6B7A"/>
                </a:solidFill>
              </a:rPr>
              <a:t>Benchmark dùng cùng đặc trưng PCA 571 chiều để so sánh công bằng giữa các mô hình.</a:t>
            </a:r>
          </a:p>
        </p:txBody>
      </p:sp>
    </p:spTree>
    <p:extLst>
      <p:ext uri="{BB962C8B-B14F-4D97-AF65-F5344CB8AC3E}">
        <p14:creationId xmlns:p14="http://schemas.microsoft.com/office/powerpoint/2010/main" val="11022800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F6C8E6-7E7D-4611-9653-B5FB06EF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8B8"/>
          </a:solidFill>
          <a:ln xmlns:a="http://schemas.openxmlformats.org/drawingml/2006/main" w="0">
            <a:solidFill>
              <a:srgbClr val="7048B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2EF25-FA5D-4761-98DB-91F1DFAA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D5C"/>
                </a:solidFill>
              </a:defRPr>
            </a:pPr>
            <a:r>
              <a:rPr sz="2250" b="1">
                <a:solidFill>
                  <a:srgbClr val="0B2D5C"/>
                </a:solidFill>
              </a:rPr>
              <a:t>Giải thích kết quả benchmark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B1DF3-7FF2-45A2-AFA1-F62570AC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669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48B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2B61F-D242-44C9-82A0-82EAE380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048B8"/>
                </a:solidFill>
              </a:defRPr>
            </a:pPr>
            <a:r>
              <a:rPr sz="1125" b="1">
                <a:solidFill>
                  <a:srgbClr val="7048B8"/>
                </a:solidFill>
              </a:rPr>
              <a:t>TruongwfDt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801BCF-A204-423F-9662-57383E1E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A"/>
                </a:solidFill>
              </a:defRPr>
            </a:pPr>
            <a:r>
              <a:rPr sz="600">
                <a:solidFill>
                  <a:srgbClr val="5C6F82"/>
                </a:solidFill>
                <a:latin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8C4F4-5B45-4D00-8842-E6919A0A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B7A"/>
                </a:solidFill>
              </a:defRPr>
            </a:pPr>
            <a:r>
              <a:rPr sz="900" b="1">
                <a:solidFill>
                  <a:srgbClr val="5C6B7A"/>
                </a:solidFill>
              </a:rPr>
              <a:t>AIL303m • GROUP 6 • SUMMER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61C2E-D84F-4CD6-AD80-BA97ECE1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52387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94AF51-9BDE-4C2F-9608-96AB32F5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3811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AA"/>
                </a:solidFill>
              </a:defRPr>
            </a:pPr>
            <a:r>
              <a:rPr sz="1725" b="1">
                <a:solidFill>
                  <a:srgbClr val="1769AA"/>
                </a:solidFill>
              </a:rPr>
              <a:t>SVM / Logistic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E13360-5888-475C-B8A4-1EC67E52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62075"/>
            <a:ext cx="12382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FA7CEB-C3DE-49DB-B08D-682CC313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381125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95,37 / 94,82% F1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48AC0-9E17-4D18-9C01-E102F8FC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14525"/>
            <a:ext cx="4714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Phù hợp dữ liệu nhiều chiều và ranh giới gần tuyến tính sau PCA.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A223B4-FD7E-4166-B753-CFD81F11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190625"/>
            <a:ext cx="52387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48B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0BD4A7-AAFC-4F4C-9558-10124E14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3811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048B8"/>
                </a:solidFill>
              </a:defRPr>
            </a:pPr>
            <a:r>
              <a:rPr sz="1725" b="1">
                <a:solidFill>
                  <a:srgbClr val="7048B8"/>
                </a:solidFill>
              </a:rPr>
              <a:t>Random Forest / LightGBM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695734-7D18-4895-8B3F-D7E336D1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62075"/>
            <a:ext cx="12382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7048B8"/>
          </a:solidFill>
          <a:ln xmlns:a="http://schemas.openxmlformats.org/drawingml/2006/main" w="9525">
            <a:solidFill>
              <a:srgbClr val="7048B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163432-9DAB-473F-8091-1ED46B87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381125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84,74 / 86,70% F1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F19E8-4CA8-4B1C-B6C9-3633F6B5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14525"/>
            <a:ext cx="4714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Chia không gian theo từng trục; PCA trộn đặc trưng nên kém thuận lợi.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60AEF5-6CCD-47E0-82C4-79AE21AE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0"/>
            <a:ext cx="52387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97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9799B6-1EAB-4CEC-90E4-F1CCC6DB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195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976A"/>
                </a:solidFill>
              </a:defRPr>
            </a:pPr>
            <a:r>
              <a:rPr sz="1725" b="1">
                <a:solidFill>
                  <a:srgbClr val="15976A"/>
                </a:solidFill>
              </a:rPr>
              <a:t>KNN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BD5BE2-B710-4FC3-BD03-0A7CAAC2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00450"/>
            <a:ext cx="12382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5976A"/>
          </a:solidFill>
          <a:ln xmlns:a="http://schemas.openxmlformats.org/drawingml/2006/main" w="9525">
            <a:solidFill>
              <a:srgbClr val="1597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541BCA-9561-4995-8D3B-9A2DAE6A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1950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94,23% F1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72757F-D420-4BE9-8B5C-83F7F257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4714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Khoảng cách trong không gian nhiều chiều kém ổn định; dự đoán chậm.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322D7B-23A9-46C8-B12D-09E4EEC9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29000"/>
            <a:ext cx="52387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DDD6C6-A7D5-45FF-9910-04D5A75D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6195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9E0B"/>
                </a:solidFill>
              </a:defRPr>
            </a:pPr>
            <a:r>
              <a:rPr sz="1725" b="1">
                <a:solidFill>
                  <a:srgbClr val="F59E0B"/>
                </a:solidFill>
              </a:rPr>
              <a:t>MLP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AA5122-5E99-410C-8B79-243342D0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00450"/>
            <a:ext cx="12382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C5EA23-EB40-4F1C-A799-B897C759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1950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93,62% F1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1AF61F-BF6A-4825-8E8B-4A9F6010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52900"/>
            <a:ext cx="4714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Dữ liệu nhỏ, cần tuning và regularization kỹ; không vượt SVM.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73A48A-457F-45DB-97DB-1B1A9B3B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29300"/>
            <a:ext cx="9525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0B2D5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5A18CD-682B-41BB-BCAE-ADE14A20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6740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Kết luận M05: giữ SVM và khảo sát sâu kernel + siêu tham số ở M06.</a:t>
            </a:r>
          </a:p>
        </p:txBody>
      </p:sp>
    </p:spTree>
    <p:extLst>
      <p:ext uri="{BB962C8B-B14F-4D97-AF65-F5344CB8AC3E}">
        <p14:creationId xmlns:p14="http://schemas.microsoft.com/office/powerpoint/2010/main" val="10692777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C36EBC-9F8A-401F-9DBA-5F9C6183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B3B"/>
          </a:solidFill>
          <a:ln xmlns:a="http://schemas.openxmlformats.org/drawingml/2006/main" w="0">
            <a:solidFill>
              <a:srgbClr val="E33B3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20ED2-1090-4E96-ACF1-545AC019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D5C"/>
                </a:solidFill>
              </a:defRPr>
            </a:pPr>
            <a:r>
              <a:rPr sz="2250" b="1">
                <a:solidFill>
                  <a:srgbClr val="0B2D5C"/>
                </a:solidFill>
              </a:rPr>
              <a:t>M06 • So sánh kernel và tuning SVM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B5456-8EA5-4869-A475-6047F687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669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3B3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B9ABF4-BC18-4F6C-9335-20FED4B6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33B3B"/>
                </a:solidFill>
              </a:defRPr>
            </a:pPr>
            <a:r>
              <a:rPr sz="1125" b="1">
                <a:solidFill>
                  <a:srgbClr val="E33B3B"/>
                </a:solidFill>
              </a:rPr>
              <a:t>Kiệt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3BEA10-708E-459F-8510-F03EE62F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A"/>
                </a:solidFill>
              </a:defRPr>
            </a:pPr>
            <a:r>
              <a:rPr sz="600">
                <a:solidFill>
                  <a:srgbClr val="5C6F82"/>
                </a:solidFill>
                <a:latin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CFC17F-DB1C-4B0F-ABF6-E8E815F6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B7A"/>
                </a:solidFill>
              </a:defRPr>
            </a:pPr>
            <a:r>
              <a:rPr sz="900" b="1">
                <a:solidFill>
                  <a:srgbClr val="5C6B7A"/>
                </a:solidFill>
              </a:rPr>
              <a:t>AIL303m • GROUP 6 • SUMMER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7AE7E-B23E-4A2E-A4A8-85D47046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3476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C994E-AA81-4D93-9D66-A1568078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162050"/>
            <a:ext cx="3381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Kernel / cấu hình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CABB82-E9F9-4399-8C0F-DC818284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123950"/>
            <a:ext cx="1905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38E6C-C4CE-4DC9-871C-F132FB92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162050"/>
            <a:ext cx="180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Val 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8E5F95-FBD6-470A-9F51-3EF8B675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123950"/>
            <a:ext cx="2000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00A115-19C2-47D6-BB82-DE39CB36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162050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Val Macro F1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68CC6C-C80E-463F-BD35-EAD54E30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123950"/>
            <a:ext cx="1428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759F0-A624-43F5-B9EE-4871F9B2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162050"/>
            <a:ext cx="133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Train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9B8C0-3EB1-442A-8C8B-CED7E84E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123950"/>
            <a:ext cx="2095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7ED91C-A3EE-4F9C-B06D-D3BBC2B5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162050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Support vectors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262B23-7446-47B8-88A9-93E9CF78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3476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6387CA-4B92-44C0-B2C3-73C3E4DA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33525"/>
            <a:ext cx="3343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Linear • C=0,1 • None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8F2F74-6C0A-4D93-A44F-D4B32E91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495425"/>
            <a:ext cx="1905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EBD3E6-75DE-473F-B19E-9466E5AE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33525"/>
            <a:ext cx="1771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96,72%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835DA3-34B0-45F6-9F59-A266DE39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495425"/>
            <a:ext cx="2000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C0F691-4BEB-4F7C-8567-1201BE4F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33525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97,30%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F6E749-ED3A-43D0-90ED-178A26C6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495425"/>
            <a:ext cx="1428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712241-F98D-482E-A805-689A85A3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33525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2,46s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5DA638-E7B6-4ABD-9937-8BDE9B53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495425"/>
            <a:ext cx="2095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6B5DC9-3258-4EBA-9DD7-62557F1A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33525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4.514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EE06E2-2A99-4D2E-8C3B-81099C3F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3476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3A3985-02B7-4BE0-81BE-1BD78CED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3343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Linear • C=10 • balanced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6E6805-E1E0-4D1A-A484-CA864EA1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866900"/>
            <a:ext cx="1905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7CFB45-D06A-44F5-946B-779E43F2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05000"/>
            <a:ext cx="1771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96,72%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3AF03F-5E22-4391-B3BC-9FBCB9A6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866900"/>
            <a:ext cx="2000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AE7E2F-2BCD-4729-B367-B47FBFE8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05000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97,30%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02426C-3AD5-4293-8976-3D498EEA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866900"/>
            <a:ext cx="1428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6A7BCD-C434-413B-8627-4EA08B87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05000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2,22s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82AC9E-614E-4033-8C23-CDE3AEFF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866900"/>
            <a:ext cx="2095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BFB205-0743-4DCD-A2DE-1646D109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05000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4.514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31A5AA-09F5-405F-8450-87F68896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3476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10F95B-D1EC-46FD-A436-9BC152F3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76475"/>
            <a:ext cx="3343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RBF • C=10 • scale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9B1A03-C978-44CD-A836-46129A0A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238375"/>
            <a:ext cx="1905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F381A0-FDBA-43A0-AA13-B1CAAA11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76475"/>
            <a:ext cx="1771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96,72%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41DB01-3721-4AAC-9A2D-A54F79B6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238375"/>
            <a:ext cx="2000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D7B858-5EC6-4FE7-BB8A-16344576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76475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95,77%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511DD6-522D-4811-997A-A3EAB5FE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238375"/>
            <a:ext cx="1428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CBB71B6-8A84-4925-A565-60CB2201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76475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6,25s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231F4BD-064C-4E61-A9CA-4DAC7E40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238375"/>
            <a:ext cx="2095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9E4802-49C3-4879-A1C8-7928D42C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76475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5.331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F97540-BBD2-4853-8D07-7BE4EDBD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9850"/>
            <a:ext cx="3476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5B01D2-3230-43D8-AA2B-D4CC58BB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47950"/>
            <a:ext cx="3343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RBF • C=5 • γ=0,0005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E2D20D-09FA-47EA-9089-97A1B8A6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609850"/>
            <a:ext cx="1905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8394F88-25C7-4F67-96B6-AF084B8B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47950"/>
            <a:ext cx="1771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96,84%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D251DD-6E62-40C6-96F6-EAEC4C1F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609850"/>
            <a:ext cx="2000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069386-ED27-4D11-BFE1-3E4363CB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47950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95,81%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C8413B9-F60E-4DFF-9FA5-51F0A0B9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609850"/>
            <a:ext cx="1428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10BDDDB-BA7E-41DC-A32C-FC4FCB4E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47950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5,20s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179C4FE-A573-417F-B2A6-DEC84C67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609850"/>
            <a:ext cx="2095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3715B19-E881-4A49-9782-58117479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47950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5.261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83208D4-AD9E-47A4-9106-6E104E12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81325"/>
            <a:ext cx="3476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4F9214E-690E-4402-AE9A-C0206685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19425"/>
            <a:ext cx="3343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Polynomial degree 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2E97753-F029-44E6-976B-87CCB91E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981325"/>
            <a:ext cx="1905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D8A031C-A4B2-4BA4-AF8C-89A071CB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19425"/>
            <a:ext cx="1771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96,72%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960CE11-F89A-41AF-9DD7-9BCD9084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981325"/>
            <a:ext cx="2000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AB53B55-C0BE-4D20-8537-1B9F27B4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19425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95,03%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A0157F5-CCF1-40D1-807B-074F151E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981325"/>
            <a:ext cx="1428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A8F3D88-76FD-4E4D-8909-57BC755C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19425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6,32s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4818FD9-DC9A-45E3-BA08-6096057E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981325"/>
            <a:ext cx="2095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30D9BB5-5B46-47FA-90FE-6C464067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19425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5.273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959FFDB-70F3-44A1-A8D9-FBE30FF2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3476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5F61002-03CC-4274-8772-DF59C2EA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90900"/>
            <a:ext cx="3343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Polynomial degree 3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F4F6F10-3BC9-41FA-AC2B-544F7A34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352800"/>
            <a:ext cx="1905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AD98FFA-6BFD-4519-A171-C36996ED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90900"/>
            <a:ext cx="1771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94,78%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B91748F-9362-443C-AA65-493F505E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352800"/>
            <a:ext cx="2000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658E381-0360-4891-A028-45414D5F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90900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93,43%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43B6319-C025-4824-B9D5-8CF9A6C9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352800"/>
            <a:ext cx="1428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04F7CD7-7017-4C2A-B08C-BA9EE9ED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90900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14,28s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7138B73-7777-4FE4-AED9-F82C8714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352800"/>
            <a:ext cx="2095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77D9F38-C348-4795-ADE3-66AD7325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90900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5.172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CF1B27E-2ED3-40CF-AED9-FBFFB0DA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24275"/>
            <a:ext cx="3476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0B4B5AA-7A88-4BF8-B414-72B50FD1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62375"/>
            <a:ext cx="3343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Sigmoid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920ABA4-72FA-4FB3-8F48-DE15E4B5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24275"/>
            <a:ext cx="1905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142DEF0-086D-4C27-9314-2461E262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62375"/>
            <a:ext cx="1771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94,05%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65AB20D-4301-4BEE-BDFE-517DBBAC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724275"/>
            <a:ext cx="2000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3007AE6-0DB2-4B35-A211-9DAAAE71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62375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92,96%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E96628F-B69C-415A-8762-A2AA2464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724275"/>
            <a:ext cx="1428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69C3605-B734-458E-A5EF-4DFECCE4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62375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2,35s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B9BD765-2D54-489B-8EE1-45A3738A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724275"/>
            <a:ext cx="2095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B9AA530-C7D8-4755-8908-A37F9C0A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62375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3.812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A13E392-8EB9-458B-AA3F-5C1A25B8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05300"/>
            <a:ext cx="5143500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E33B3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A16D368-FEA6-441E-B427-31069046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4817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33B3B"/>
                </a:solidFill>
              </a:defRPr>
            </a:pPr>
            <a:r>
              <a:rPr sz="1650" b="1">
                <a:solidFill>
                  <a:srgbClr val="E33B3B"/>
                </a:solidFill>
              </a:rPr>
              <a:t>Cấu hình được chọn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DB1AF99-99E3-4274-871E-973957EC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466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D5C"/>
                </a:solidFill>
              </a:defRPr>
            </a:pPr>
            <a:r>
              <a:rPr sz="1575" b="1">
                <a:solidFill>
                  <a:srgbClr val="0B2D5C"/>
                </a:solidFill>
              </a:rPr>
              <a:t>Linear SVM • C=0,1 • class_weight=None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C893F77-2195-4B4D-B9B0-6855E120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673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7A"/>
                </a:solidFill>
              </a:defRPr>
            </a:pPr>
            <a:r>
              <a:rPr sz="1125" b="0">
                <a:solidFill>
                  <a:srgbClr val="5C6B7A"/>
                </a:solidFill>
              </a:rPr>
              <a:t>Ưu tiên regularization mạnh hơn khi F1 bằng nhau.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6D03D9D-BCBF-47B9-8766-2B6A9152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05300"/>
            <a:ext cx="5572125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9525">
            <a:solidFill>
              <a:srgbClr val="1597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3C3BC22-D4F7-490E-8C10-C072198F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48175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976A"/>
                </a:solidFill>
              </a:defRPr>
            </a:pPr>
            <a:r>
              <a:rPr sz="1650" b="1">
                <a:solidFill>
                  <a:srgbClr val="15976A"/>
                </a:solidFill>
              </a:rPr>
              <a:t>Vì sao không chọn cấu hình phức tạp hơn?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5E5BA4D-0285-4B61-B38B-939F0B5E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57750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Linear cao hơn RBF 1,53 điểm % Macro F1, train nhanh hơn và dùng ít support vector hơn.</a:t>
            </a:r>
          </a:p>
        </p:txBody>
      </p:sp>
    </p:spTree>
    <p:extLst>
      <p:ext uri="{BB962C8B-B14F-4D97-AF65-F5344CB8AC3E}">
        <p14:creationId xmlns:p14="http://schemas.microsoft.com/office/powerpoint/2010/main" val="17963548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435FA6-D5EF-40ED-996C-966C1DC1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B3B"/>
          </a:solidFill>
          <a:ln xmlns:a="http://schemas.openxmlformats.org/drawingml/2006/main" w="0">
            <a:solidFill>
              <a:srgbClr val="E33B3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8208E-133D-4BA0-9E91-52FE1D4E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D5C"/>
                </a:solidFill>
              </a:defRPr>
            </a:pPr>
            <a:r>
              <a:rPr sz="2250" b="1">
                <a:solidFill>
                  <a:srgbClr val="0B2D5C"/>
                </a:solidFill>
              </a:rPr>
              <a:t>Kết quả cuối cùng và trade-off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6627C-FF72-4ED2-BF4D-44AC1A3D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669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3B3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84242-41BC-4ABB-9ACA-D29157D6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33B3B"/>
                </a:solidFill>
              </a:defRPr>
            </a:pPr>
            <a:r>
              <a:rPr sz="1125" b="1">
                <a:solidFill>
                  <a:srgbClr val="E33B3B"/>
                </a:solidFill>
              </a:rPr>
              <a:t>Kiệt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3C9BB-F5F7-4B9B-8B86-9BF5A5A3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A"/>
                </a:solidFill>
              </a:defRPr>
            </a:pPr>
            <a:r>
              <a:rPr sz="600">
                <a:solidFill>
                  <a:srgbClr val="5C6F82"/>
                </a:solidFill>
                <a:latin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AE824-4FDD-4986-A97C-2F781A24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B7A"/>
                </a:solidFill>
              </a:defRPr>
            </a:pPr>
            <a:r>
              <a:rPr sz="900" b="1">
                <a:solidFill>
                  <a:srgbClr val="5C6B7A"/>
                </a:solidFill>
              </a:rPr>
              <a:t>AIL303m • GROUP 6 • SUMMER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64BB3-5FCD-4D81-9AE6-6CAFC39B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14425"/>
            <a:ext cx="2047875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00EE0-1E48-48EC-B82C-6F89457C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47775"/>
            <a:ext cx="1895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69AA"/>
                </a:solidFill>
              </a:defRPr>
            </a:pPr>
            <a:r>
              <a:rPr sz="2550" b="1">
                <a:solidFill>
                  <a:srgbClr val="1769AA"/>
                </a:solidFill>
              </a:rPr>
              <a:t>96,12%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3E391-1DED-4C04-8D0C-F7D2439A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819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C6B7A"/>
                </a:solidFill>
              </a:defRPr>
            </a:pPr>
            <a:r>
              <a:rPr sz="1050" b="1">
                <a:solidFill>
                  <a:srgbClr val="5C6B7A"/>
                </a:solidFill>
              </a:rPr>
              <a:t>TEST 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35180-4191-4FF0-ADEE-E47CBD61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114425"/>
            <a:ext cx="2190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3B3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15F936-4503-4067-AC95-FC33260F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247775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33B3B"/>
                </a:solidFill>
              </a:defRPr>
            </a:pPr>
            <a:r>
              <a:rPr sz="2550" b="1">
                <a:solidFill>
                  <a:srgbClr val="E33B3B"/>
                </a:solidFill>
              </a:rPr>
              <a:t>96,29%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C6C56-41E0-41E3-A82C-14F70619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526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C6B7A"/>
                </a:solidFill>
              </a:defRPr>
            </a:pPr>
            <a:r>
              <a:rPr sz="1050" b="1">
                <a:solidFill>
                  <a:srgbClr val="5C6B7A"/>
                </a:solidFill>
              </a:rPr>
              <a:t>TEST MACRO F1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7B9B4A-860F-4DE3-9D74-8FE6A7F4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114425"/>
            <a:ext cx="2190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48B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8B7837-AF86-49B1-B97C-3DE4A53B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247775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7048B8"/>
                </a:solidFill>
              </a:defRPr>
            </a:pPr>
            <a:r>
              <a:rPr sz="2550" b="1">
                <a:solidFill>
                  <a:srgbClr val="7048B8"/>
                </a:solidFill>
              </a:rPr>
              <a:t>97,51%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6FD3C5-3B9A-45BE-B4E5-78C72435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7526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C6B7A"/>
                </a:solidFill>
              </a:defRPr>
            </a:pPr>
            <a:r>
              <a:rPr sz="1050" b="1">
                <a:solidFill>
                  <a:srgbClr val="5C6B7A"/>
                </a:solidFill>
              </a:rPr>
              <a:t>MACRO PRECISION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3AF7AA-8607-477B-ABD8-6982BB37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114425"/>
            <a:ext cx="2095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97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9FDC65-A763-416F-A157-4027E4ED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247775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5976A"/>
                </a:solidFill>
              </a:defRPr>
            </a:pPr>
            <a:r>
              <a:rPr sz="2550" b="1">
                <a:solidFill>
                  <a:srgbClr val="15976A"/>
                </a:solidFill>
              </a:rPr>
              <a:t>95,62%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9408A0-27A9-4763-8344-C65EBFC9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7526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C6B7A"/>
                </a:solidFill>
              </a:defRPr>
            </a:pPr>
            <a:r>
              <a:rPr sz="1050" b="1">
                <a:solidFill>
                  <a:srgbClr val="5C6B7A"/>
                </a:solidFill>
              </a:rPr>
              <a:t>MACRO RECALL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476175-CFFF-4598-8DA1-8277F725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1114425"/>
            <a:ext cx="1952625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B4BEEA-A334-406D-B7AE-50CACDF8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247775"/>
            <a:ext cx="1800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59E0B"/>
                </a:solidFill>
              </a:defRPr>
            </a:pPr>
            <a:r>
              <a:rPr sz="2550" b="1">
                <a:solidFill>
                  <a:srgbClr val="F59E0B"/>
                </a:solidFill>
              </a:rPr>
              <a:t>1,52 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027D67-EC88-48BA-AC5D-7DC1A4AC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752600"/>
            <a:ext cx="1724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C6B7A"/>
                </a:solidFill>
              </a:defRPr>
            </a:pPr>
            <a:r>
              <a:rPr sz="1050" b="1">
                <a:solidFill>
                  <a:srgbClr val="5C6B7A"/>
                </a:solidFill>
              </a:rPr>
              <a:t>CLASSIFIER / ẢNH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DB4981-6920-4159-9EE1-A04F8B66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24150"/>
            <a:ext cx="3143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014D58-352A-43CB-8BB8-3FF8D466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304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Chỉ số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BF5449-6DDA-4A0C-8091-36F8133E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724150"/>
            <a:ext cx="2286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544771-3B67-49A9-A524-AF5ADDF4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6225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Phase 1 • RBF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FE7CD2-7E09-4DAC-A24D-791CCF96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24150"/>
            <a:ext cx="2286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DB97AB-0361-469D-898A-73320E10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Phase 2 • Linear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9A5FCD-EA95-42C1-A1B3-5CBCC6B2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24150"/>
            <a:ext cx="2286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5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E60771-71BD-451A-9516-67B71186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Chênh lệch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E32EEF-DBE4-4CDF-B49E-C0ACBA73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95625"/>
            <a:ext cx="3143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CC2637-0931-4CFF-AC3B-BC64A8A4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33725"/>
            <a:ext cx="3009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Accuracy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65B53E-BBAA-4AE3-8DF5-CDFDEB85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95625"/>
            <a:ext cx="2286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A6455A-C9A2-4B8D-9FBF-1B1F8E1E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33725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96,24%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F4CB70-6497-445F-A366-F01F8D49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95625"/>
            <a:ext cx="2286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DE0753-5239-4A65-9BAF-983BEEEA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33725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96,12%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E8A2F1-2874-4318-AC3F-278D64FE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95625"/>
            <a:ext cx="2286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CE28B4-40AF-4355-8B98-6BDD3EEF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33725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−0,12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2D8AA0-4CA4-42D8-AF2C-E787A7BC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67100"/>
            <a:ext cx="3143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E98341-72F2-4451-8F01-269F28E0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05200"/>
            <a:ext cx="3009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Macro F1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D9E02B-C817-494B-A41E-58D69CEE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467100"/>
            <a:ext cx="2286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47B3A9-F6D2-4592-A50E-6908C50C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05200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95,64%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A9BF73-414F-477D-B56F-B6148597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67100"/>
            <a:ext cx="2286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D308D5-AF9B-4BAA-AE47-BF693E22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05200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96,29%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69FC91-04DA-4A76-815A-484CE429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467100"/>
            <a:ext cx="2286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A4E707B-9CB2-43D5-96E4-C18D66E1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05200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+0,65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DA57BFE-083B-4D74-B12F-9B9F6486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38575"/>
            <a:ext cx="3143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9C6E61-E212-4F88-8865-B1125D50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76675"/>
            <a:ext cx="3009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Macro Precision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F36CB66-B9CF-42FA-9068-A7D400C5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838575"/>
            <a:ext cx="2286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3D3AF41-79E0-48D9-9228-BB433B01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876675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98,08%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4077064-1C26-4BA4-9482-BF14D18E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38575"/>
            <a:ext cx="2286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B817BB6-5A25-47EA-8F66-D28633AC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76675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97,51%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7B3D78D-D12B-4D4D-9875-E05DA45D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838575"/>
            <a:ext cx="2286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014224F-0235-44DD-9AD0-CD1AEA57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76675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−0,57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AA6FF97-7191-4C15-A1EC-2FECAA3D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0050"/>
            <a:ext cx="3143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5286465-54FF-4552-B780-199367D8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3009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Macro Recall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EAC6B15-809B-4042-A1A7-AFC60FA8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210050"/>
            <a:ext cx="2286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0509E75-7C13-4BC6-B8B7-D0BBB1F8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48150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94,39%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AE3D967-F107-4B6F-B94F-65AADA1C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10050"/>
            <a:ext cx="2286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476F45C-7E09-42AF-AF8A-EBD1E9D4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48150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95,62%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D2FFFFC-4708-4EDB-8658-DCFBA0D4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210050"/>
            <a:ext cx="2286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F21492D-B970-4C6F-825B-E42B4A96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48150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+1,23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16B379F-8CDB-46FE-91ED-AFE94AE5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81525"/>
            <a:ext cx="3143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FD8B663-9D39-4DC6-943A-599B3B32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9625"/>
            <a:ext cx="3009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Weighted F1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88C1BFA-D95F-4AD5-A392-736B26DC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581525"/>
            <a:ext cx="2286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7E763C6-6389-490D-AC4B-B498B9EC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619625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96,15%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C1AD1E2-B1E0-4AE1-8F47-1FC13114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81525"/>
            <a:ext cx="2286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D23052B-B4DF-4F9F-9E13-C59FB3DF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19625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96,09%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13983A5-B16C-450E-9B0B-01F1513A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81525"/>
            <a:ext cx="2286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C70804A-2DBF-44FD-9A23-B3C97A37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619625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−0,06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B2679BD-399B-46D4-B173-F43BBEBF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3143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EC7DF9D-0E2C-4870-879B-BB9ECF7E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91100"/>
            <a:ext cx="3009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Support vectors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AF26E80-24A6-43C1-B82B-F70939B8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953000"/>
            <a:ext cx="2286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FE3EBB4-C01C-48BB-8A4D-CF80A25D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991100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5.331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83DBB9C-FECE-4710-A2EA-DC1F7D7C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53000"/>
            <a:ext cx="2286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B8C84B3-5993-4908-B7F2-4E9DAACC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91100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4.514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F2EEF98-A4FE-4348-B5C3-B0589ECB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953000"/>
            <a:ext cx="2286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35681F1-9C5B-4D66-B2EC-AECB11E1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991100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72033"/>
                </a:solidFill>
              </a:defRPr>
            </a:pPr>
            <a:r>
              <a:rPr sz="938" b="0">
                <a:solidFill>
                  <a:srgbClr val="172033"/>
                </a:solidFill>
              </a:rPr>
              <a:t>−817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41B9926-2904-4305-AB3B-D82BD79A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33B3B"/>
                </a:solidFill>
              </a:defRPr>
            </a:pPr>
            <a:r>
              <a:rPr sz="1425" b="1">
                <a:solidFill>
                  <a:srgbClr val="E33B3B"/>
                </a:solidFill>
              </a:rPr>
              <a:t>Trade-off hợp lý: giảm false negative và nhận diện lớp khó tốt hơn, đổi lại thêm một số false positive.</a:t>
            </a:r>
          </a:p>
        </p:txBody>
      </p:sp>
    </p:spTree>
    <p:extLst>
      <p:ext uri="{BB962C8B-B14F-4D97-AF65-F5344CB8AC3E}">
        <p14:creationId xmlns:p14="http://schemas.microsoft.com/office/powerpoint/2010/main" val="1924638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3E14C0-69DD-4D2C-A374-C2928894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C6C68-5359-48DC-B26F-E6A5F21F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D5C"/>
                </a:solidFill>
              </a:defRPr>
            </a:pPr>
            <a:r>
              <a:rPr sz="2250" b="1">
                <a:solidFill>
                  <a:srgbClr val="0B2D5C"/>
                </a:solidFill>
              </a:rPr>
              <a:t>Hạn chế và hướng phát triển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0F207-4D15-487D-9B80-94673A3F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669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F82C7-0EF1-4FCC-8D49-B6973D5A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9AA"/>
                </a:solidFill>
              </a:defRPr>
            </a:pPr>
            <a:r>
              <a:rPr sz="1125" b="1">
                <a:solidFill>
                  <a:srgbClr val="1769AA"/>
                </a:solidFill>
              </a:rPr>
              <a:t>Nguyễn LK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E7EC72-4C4B-44C0-A828-16595CF6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A"/>
                </a:solidFill>
              </a:defRPr>
            </a:pPr>
            <a:r>
              <a:rPr sz="600">
                <a:solidFill>
                  <a:srgbClr val="5C6F82"/>
                </a:solidFill>
                <a:latin typeface="Apto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69483-C6F1-42FA-A634-D5E434A0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B7A"/>
                </a:solidFill>
              </a:defRPr>
            </a:pPr>
            <a:r>
              <a:rPr sz="900" b="1">
                <a:solidFill>
                  <a:srgbClr val="5C6B7A"/>
                </a:solidFill>
              </a:rPr>
              <a:t>AIL303m • GROUP 6 • SUMMER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51DC8-88AE-45ED-9E1F-D7278EEF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668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33B3B"/>
                </a:solidFill>
              </a:defRPr>
            </a:pPr>
            <a:r>
              <a:rPr sz="1350" b="1">
                <a:solidFill>
                  <a:srgbClr val="E33B3B"/>
                </a:solidFill>
              </a:rPr>
              <a:t>HẠN CHẾ HIỆN TẠI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30053-CB87-4C86-A03B-10EF292B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0668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976A"/>
                </a:solidFill>
              </a:defRPr>
            </a:pPr>
            <a:r>
              <a:rPr sz="1350" b="1">
                <a:solidFill>
                  <a:srgbClr val="15976A"/>
                </a:solidFill>
              </a:rPr>
              <a:t>HƯỚNG PHÁT TRIỂN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D51AD-6263-46CD-80F8-8DBB01E0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5191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3B3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E8107F-004C-4B23-9E44-27E4B289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33B3B"/>
                </a:solidFill>
              </a:defRPr>
            </a:pPr>
            <a:r>
              <a:rPr sz="1350" b="1">
                <a:solidFill>
                  <a:srgbClr val="E33B3B"/>
                </a:solidFill>
              </a:rPr>
              <a:t>Ảnh đã crop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9F9198-13A9-441C-85F5-33DBEEEF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471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033"/>
                </a:solidFill>
              </a:defRPr>
            </a:pPr>
            <a:r>
              <a:rPr sz="1163" b="0">
                <a:solidFill>
                  <a:srgbClr val="172033"/>
                </a:solidFill>
              </a:rPr>
              <a:t>Chưa đánh giá detection trong cảnh đường phố.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1C9F51-B9AD-46DB-82F0-79BA3ABA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5191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3B3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5AFB38-0AAF-420E-A68C-27046A6B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33B3B"/>
                </a:solidFill>
              </a:defRPr>
            </a:pPr>
            <a:r>
              <a:rPr sz="1350" b="1">
                <a:solidFill>
                  <a:srgbClr val="E33B3B"/>
                </a:solidFill>
              </a:rPr>
              <a:t>Một split duy nhất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E2244F-4CD9-4CDD-A41F-5D86CF6C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43225"/>
            <a:ext cx="471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033"/>
                </a:solidFill>
              </a:defRPr>
            </a:pPr>
            <a:r>
              <a:rPr sz="1163" b="0">
                <a:solidFill>
                  <a:srgbClr val="172033"/>
                </a:solidFill>
              </a:rPr>
              <a:t>Chưa repeated stratified cross-validation.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0E3C93-158F-46F9-A512-1A41EFC8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5191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3B3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C8FCA7-D708-4277-8AE7-A695CADF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33B3B"/>
                </a:solidFill>
              </a:defRPr>
            </a:pPr>
            <a:r>
              <a:rPr sz="1350" b="1">
                <a:solidFill>
                  <a:srgbClr val="E33B3B"/>
                </a:solidFill>
              </a:rPr>
              <a:t>Lớp cực hiếm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4596D0-BA0C-4E7B-8E33-F3769911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90975"/>
            <a:ext cx="471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033"/>
                </a:solidFill>
              </a:defRPr>
            </a:pPr>
            <a:r>
              <a:rPr sz="1163" b="0">
                <a:solidFill>
                  <a:srgbClr val="172033"/>
                </a:solidFill>
              </a:rPr>
              <a:t>W.205c chỉ có 17 ảnh train; metric per-class biến động cao.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F693A6-3BD6-4227-A6D9-2368C766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5191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3B3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FD1809-32EB-4AB7-B47E-C4B1C9CF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33B3B"/>
                </a:solidFill>
              </a:defRPr>
            </a:pPr>
            <a:r>
              <a:rPr sz="1350" b="1">
                <a:solidFill>
                  <a:srgbClr val="E33B3B"/>
                </a:solidFill>
              </a:rPr>
              <a:t>Độ trễ chưa end-to-end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FB68D3-22D6-4C2D-8F4E-EEA44760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38725"/>
            <a:ext cx="471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033"/>
                </a:solidFill>
              </a:defRPr>
            </a:pPr>
            <a:r>
              <a:rPr sz="1163" b="0">
                <a:solidFill>
                  <a:srgbClr val="172033"/>
                </a:solidFill>
              </a:rPr>
              <a:t>1,52 ms chỉ là classifier trên vector đã xử lý.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62C9B5-9A97-45ED-AC69-97844FE5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524000"/>
            <a:ext cx="5191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97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C2E98E-1EE2-4E8E-8C0F-9F531B6D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6192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976A"/>
                </a:solidFill>
              </a:defRPr>
            </a:pPr>
            <a:r>
              <a:rPr sz="1350" b="1">
                <a:solidFill>
                  <a:srgbClr val="15976A"/>
                </a:solidFill>
              </a:rPr>
              <a:t>Thu thập dữ liệu thật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70EE0C-512D-4F7C-8A66-617B72D9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895475"/>
            <a:ext cx="471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033"/>
                </a:solidFill>
              </a:defRPr>
            </a:pPr>
            <a:r>
              <a:rPr sz="1163" b="0">
                <a:solidFill>
                  <a:srgbClr val="172033"/>
                </a:solidFill>
              </a:rPr>
              <a:t>Ưu tiên các lớp dưới 30 ảnh, đặc biệt W.205c.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458129-D7F5-4A83-989D-F86FB3BC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71750"/>
            <a:ext cx="5191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97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CB6490-A31B-4399-B5A7-3E99FACB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667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976A"/>
                </a:solidFill>
              </a:defRPr>
            </a:pPr>
            <a:r>
              <a:rPr sz="1350" b="1">
                <a:solidFill>
                  <a:srgbClr val="15976A"/>
                </a:solidFill>
              </a:rPr>
              <a:t>Đánh giá đầy đủ pipeline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D788DF-3B24-4BF0-A569-1E1295C4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943225"/>
            <a:ext cx="471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033"/>
                </a:solidFill>
              </a:defRPr>
            </a:pPr>
            <a:r>
              <a:rPr sz="1163" b="0">
                <a:solidFill>
                  <a:srgbClr val="172033"/>
                </a:solidFill>
              </a:rPr>
              <a:t>Profile crop → feature → PCA → classifier trên phần cứng đích.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67C2EE-C285-49C5-A95C-1F8B41EC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619500"/>
            <a:ext cx="5191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97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7CC963-0BC9-4EDF-A20B-0309DAD8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714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976A"/>
                </a:solidFill>
              </a:defRPr>
            </a:pPr>
            <a:r>
              <a:rPr sz="1350" b="1">
                <a:solidFill>
                  <a:srgbClr val="15976A"/>
                </a:solidFill>
              </a:rPr>
              <a:t>Đặc trưng local / phân cấp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890D61-72B6-4D0F-99F6-4FBF99DA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990975"/>
            <a:ext cx="471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033"/>
                </a:solidFill>
              </a:defRPr>
            </a:pPr>
            <a:r>
              <a:rPr sz="1163" b="0">
                <a:solidFill>
                  <a:srgbClr val="172033"/>
                </a:solidFill>
              </a:rPr>
              <a:t>Xử lý các cặp chỉ khác chi tiết nhỏ hoặc hướng mũi tên.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79F782-FDEE-4FC4-B9BC-4EA33753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67250"/>
            <a:ext cx="5191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97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F2E111-8A42-4C12-96CD-49410E91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762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976A"/>
                </a:solidFill>
              </a:defRPr>
            </a:pPr>
            <a:r>
              <a:rPr sz="1350" b="1">
                <a:solidFill>
                  <a:srgbClr val="15976A"/>
                </a:solidFill>
              </a:rPr>
              <a:t>Kiểm chứng độ ổn định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F38621-CDFA-4B02-8CF0-CF934D12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038725"/>
            <a:ext cx="471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033"/>
                </a:solidFill>
              </a:defRPr>
            </a:pPr>
            <a:r>
              <a:rPr sz="1163" b="0">
                <a:solidFill>
                  <a:srgbClr val="172033"/>
                </a:solidFill>
              </a:rPr>
              <a:t>Repeated CV và báo cáo khoảng tin cậy theo lớp.</a:t>
            </a:r>
          </a:p>
        </p:txBody>
      </p:sp>
    </p:spTree>
    <p:extLst>
      <p:ext uri="{BB962C8B-B14F-4D97-AF65-F5344CB8AC3E}">
        <p14:creationId xmlns:p14="http://schemas.microsoft.com/office/powerpoint/2010/main" val="3230156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3CD7D6-12FD-4B05-B0E1-E0C890C6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C2FEF-F5B9-4A1E-8CD2-875401EE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D5C"/>
                </a:solidFill>
              </a:defRPr>
            </a:pPr>
            <a:r>
              <a:rPr sz="2250" b="1">
                <a:solidFill>
                  <a:srgbClr val="0B2D5C"/>
                </a:solidFill>
              </a:rPr>
              <a:t>Kết luận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89791-557C-4B34-8CC9-DEFCB2A6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669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A18A3-B94E-40B1-89DC-C07F765B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9AA"/>
                </a:solidFill>
              </a:defRPr>
            </a:pPr>
            <a:r>
              <a:rPr sz="1125" b="1">
                <a:solidFill>
                  <a:srgbClr val="1769AA"/>
                </a:solidFill>
              </a:rPr>
              <a:t>Nguyễn LK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73305-C28A-4E6D-87BE-14585753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C6B7A"/>
                </a:solidFill>
              </a:defRPr>
            </a:pPr>
            <a:r>
              <a:rPr sz="600">
                <a:solidFill>
                  <a:srgbClr val="5C6F82"/>
                </a:solidFill>
                <a:latin typeface="Apto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EB40F-34F1-4B44-B349-7C789B87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B7A"/>
                </a:solidFill>
              </a:defRPr>
            </a:pPr>
            <a:r>
              <a:rPr sz="900" b="1">
                <a:solidFill>
                  <a:srgbClr val="5C6B7A"/>
                </a:solidFill>
              </a:rPr>
              <a:t>AIL303m • GROUP 6 • SUMMER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7D4A74-ED33-4F05-9BB3-4287E62B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33B3B"/>
                </a:solidFill>
              </a:defRPr>
            </a:pPr>
            <a:r>
              <a:rPr sz="1200" b="1">
                <a:solidFill>
                  <a:srgbClr val="E33B3B"/>
                </a:solidFill>
              </a:rPr>
              <a:t>THÔNG ĐIỆP CHÍNH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E72DD-8EB0-4CF5-AADE-C079B5AE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0495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2D5C"/>
                </a:solidFill>
              </a:defRPr>
            </a:pPr>
            <a:r>
              <a:rPr sz="2550" b="1">
                <a:solidFill>
                  <a:srgbClr val="0B2D5C"/>
                </a:solidFill>
              </a:rPr>
              <a:t>Kết quả tốt nhất đến từ cách thiết kế biểu diễn dữ liệu,</a:t>
            </a:r>
          </a:p>
          <a:p xmlns:a="http://schemas.openxmlformats.org/drawingml/2006/main">
            <a:pPr algn="ctr">
              <a:defRPr sz="2550" b="1">
                <a:solidFill>
                  <a:srgbClr val="0B2D5C"/>
                </a:solidFill>
              </a:defRPr>
            </a:pPr>
            <a:r>
              <a:rPr sz="2550" b="1">
                <a:solidFill>
                  <a:srgbClr val="0B2D5C"/>
                </a:solidFill>
              </a:rPr>
              <a:t>không phải từ việc tăng độ phức tạp của mô hình.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866E54-61C6-42F4-8275-84EBCABF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05125"/>
            <a:ext cx="257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46597-5714-4BD1-9313-F53B9FE4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9AA"/>
                </a:solidFill>
              </a:defRPr>
            </a:pPr>
            <a:r>
              <a:rPr sz="1275" b="1">
                <a:solidFill>
                  <a:srgbClr val="1769AA"/>
                </a:solidFill>
              </a:rPr>
              <a:t>HÌNH DẠNG + MÀU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A7E55-8300-4D2F-A4D0-C55D4195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004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HOG Gray kết hợp HSV Histogram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6E3035-E42F-45E5-8715-876B6CE5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05125"/>
            <a:ext cx="257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48B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874864-86FC-4C0B-8D98-0CCFCC92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048B8"/>
                </a:solidFill>
              </a:defRPr>
            </a:pPr>
            <a:r>
              <a:rPr sz="1275" b="1">
                <a:solidFill>
                  <a:srgbClr val="7048B8"/>
                </a:solidFill>
              </a:rPr>
              <a:t>GIẢM CHIỀU HIỆU QUẢ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2B6AE0-AD78-4D31-A63D-3E58CAF5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004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PCA 95% → 571 chiều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627206-472A-4B79-A9EA-3FA52997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05125"/>
            <a:ext cx="257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CF2955-E3E2-41CA-962E-65779712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9562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9E0B"/>
                </a:solidFill>
              </a:defRPr>
            </a:pPr>
            <a:r>
              <a:rPr sz="1275" b="1">
                <a:solidFill>
                  <a:srgbClr val="F59E0B"/>
                </a:solidFill>
              </a:rPr>
              <a:t>CHÚ TRỌNG LỚP HIẾM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0572F5-E838-470C-937F-DF97E4C6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004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Augmentation + chọn theo Macro F1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43682A-BB77-4217-837B-BF461480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05125"/>
            <a:ext cx="257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3B3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9631C0-1374-4863-A4FF-5F3A125D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9562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33B3B"/>
                </a:solidFill>
              </a:defRPr>
            </a:pPr>
            <a:r>
              <a:rPr sz="1275" b="1">
                <a:solidFill>
                  <a:srgbClr val="E33B3B"/>
                </a:solidFill>
              </a:rPr>
              <a:t>MÔ HÌNH GỌN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89B394-00BB-49A7-A46B-4668DF55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6004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Linear SVM • C=0,1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F4D9B9-30AD-441C-A0CD-A2DDC0E0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762500"/>
            <a:ext cx="2667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3B3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B59AC1-4756-460B-88FF-5CDFDB77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89585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33B3B"/>
                </a:solidFill>
              </a:defRPr>
            </a:pPr>
            <a:r>
              <a:rPr sz="2550" b="1">
                <a:solidFill>
                  <a:srgbClr val="E33B3B"/>
                </a:solidFill>
              </a:rPr>
              <a:t>96,29%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4817AE-98F4-4A30-8476-3F0EA688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40067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C6B7A"/>
                </a:solidFill>
              </a:defRPr>
            </a:pPr>
            <a:r>
              <a:rPr sz="1050" b="1">
                <a:solidFill>
                  <a:srgbClr val="5C6B7A"/>
                </a:solidFill>
              </a:rPr>
              <a:t>TEST MACRO F1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2BFF86-E391-4896-8E38-960E2AED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762500"/>
            <a:ext cx="2667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976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9E8CDE-8C93-45FF-94FD-7A4E7C6E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89585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5976A"/>
                </a:solidFill>
              </a:defRPr>
            </a:pPr>
            <a:r>
              <a:rPr sz="2550" b="1">
                <a:solidFill>
                  <a:srgbClr val="15976A"/>
                </a:solidFill>
              </a:rPr>
              <a:t>95,62%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7C067D-1BD9-450D-BE42-87D3FA83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40067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C6B7A"/>
                </a:solidFill>
              </a:defRPr>
            </a:pPr>
            <a:r>
              <a:rPr sz="1050" b="1">
                <a:solidFill>
                  <a:srgbClr val="5C6B7A"/>
                </a:solidFill>
              </a:rPr>
              <a:t>TEST MACRO RECALL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21B295-B9B3-44E4-ACC3-2C70D571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0198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D5C"/>
                </a:solidFill>
              </a:defRPr>
            </a:pPr>
            <a:r>
              <a:rPr sz="1350" b="1">
                <a:solidFill>
                  <a:srgbClr val="0B2D5C"/>
                </a:solidFill>
              </a:rPr>
              <a:t>CẢM ƠN THẦY VÀ CÁC BẠN ĐÃ LẮNG NGHE</a:t>
            </a:r>
          </a:p>
        </p:txBody>
      </p:sp>
    </p:spTree>
    <p:extLst>
      <p:ext uri="{BB962C8B-B14F-4D97-AF65-F5344CB8AC3E}">
        <p14:creationId xmlns:p14="http://schemas.microsoft.com/office/powerpoint/2010/main" val="1313070508"/>
      </p:ext>
    </p:extLst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005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201168"/>
            <a:ext cx="5943600" cy="32918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A325A"/>
                </a:solidFill>
                <a:latin typeface="Aptos"/>
              </a:rPr>
              <a:t>Phase-old • Pipeline khảo sát legacy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164592"/>
            <a:ext cx="1078992" cy="22860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005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800" b="0">
                <a:solidFill>
                  <a:srgbClr val="005C9C"/>
                </a:solidFill>
                <a:latin typeface="Aptos"/>
              </a:rPr>
              <a:t>Nguyễn 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39728" y="6373368"/>
            <a:ext cx="274320" cy="128016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600">
                <a:solidFill>
                  <a:srgbClr val="5C6F82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6428232"/>
            <a:ext cx="2286000" cy="10972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500" b="0">
                <a:solidFill>
                  <a:srgbClr val="5C6F82"/>
                </a:solidFill>
                <a:latin typeface="Aptos"/>
              </a:rPr>
              <a:t>AIL303m • GROUP 6 • SUMMER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21792"/>
            <a:ext cx="1133856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C6F82"/>
                </a:solidFill>
                <a:latin typeface="Aptos"/>
              </a:rPr>
              <a:t>Mục tiêu phase-old: khảo sát rộng các đặc trưng truyền thống để tìm hướng tiềm năng trước khi chuyển sang phase-new có ablation rõ ràng.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" y="1078992"/>
            <a:ext cx="1353312" cy="841248"/>
          </a:xfrm>
          <a:prstGeom prst="roundRect">
            <a:avLst>
              <a:gd name="adj" fmla="val 12000"/>
            </a:avLst>
          </a:prstGeom>
          <a:solidFill>
            <a:srgbClr val="E9F2FA"/>
          </a:solidFill>
          <a:ln w="12700">
            <a:solidFill>
              <a:srgbClr val="005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850" b="1">
                <a:solidFill>
                  <a:srgbClr val="0A325A"/>
                </a:solidFill>
                <a:latin typeface="Aptos"/>
              </a:rPr>
              <a:t>NVTS CROP</a:t>
            </a:r>
          </a:p>
          <a:p>
            <a:pPr algn="ctr"/>
            <a:r>
              <a:rPr sz="850" b="0">
                <a:solidFill>
                  <a:srgbClr val="0A325A"/>
                </a:solidFill>
                <a:latin typeface="Aptos"/>
              </a:rPr>
              <a:t>ảnh đã crop</a:t>
            </a:r>
          </a:p>
          <a:p>
            <a:pPr algn="ctr"/>
            <a:r>
              <a:rPr sz="850" b="0">
                <a:solidFill>
                  <a:srgbClr val="0A325A"/>
                </a:solidFill>
                <a:latin typeface="Aptos"/>
              </a:rPr>
              <a:t>47 lớp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73936" y="1499616"/>
            <a:ext cx="137160" cy="0"/>
          </a:xfrm>
          <a:prstGeom prst="line">
            <a:avLst/>
          </a:prstGeom>
          <a:ln w="15240">
            <a:solidFill>
              <a:srgbClr val="005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938528" y="1078992"/>
            <a:ext cx="1353312" cy="841248"/>
          </a:xfrm>
          <a:prstGeom prst="roundRect">
            <a:avLst>
              <a:gd name="adj" fmla="val 12000"/>
            </a:avLst>
          </a:prstGeom>
          <a:solidFill>
            <a:srgbClr val="FFF6E4"/>
          </a:solidFill>
          <a:ln w="12700">
            <a:solidFill>
              <a:srgbClr val="005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850" b="1">
                <a:solidFill>
                  <a:srgbClr val="0A325A"/>
                </a:solidFill>
                <a:latin typeface="Aptos"/>
              </a:rPr>
              <a:t>64×64</a:t>
            </a:r>
          </a:p>
          <a:p>
            <a:pPr algn="ctr"/>
            <a:r>
              <a:rPr sz="850" b="0">
                <a:solidFill>
                  <a:srgbClr val="0A325A"/>
                </a:solidFill>
                <a:latin typeface="Aptos"/>
              </a:rPr>
              <a:t>STRETCH</a:t>
            </a:r>
          </a:p>
          <a:p>
            <a:pPr algn="ctr"/>
            <a:r>
              <a:rPr sz="850" b="0">
                <a:solidFill>
                  <a:srgbClr val="0A325A"/>
                </a:solidFill>
                <a:latin typeface="Aptos"/>
              </a:rPr>
              <a:t>baseline cố định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10128" y="1499616"/>
            <a:ext cx="137160" cy="0"/>
          </a:xfrm>
          <a:prstGeom prst="line">
            <a:avLst/>
          </a:prstGeom>
          <a:ln w="15240">
            <a:solidFill>
              <a:srgbClr val="005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74720" y="1078992"/>
            <a:ext cx="1353312" cy="841248"/>
          </a:xfrm>
          <a:prstGeom prst="roundRect">
            <a:avLst>
              <a:gd name="adj" fmla="val 12000"/>
            </a:avLst>
          </a:prstGeom>
          <a:solidFill>
            <a:srgbClr val="ECF9F4"/>
          </a:solidFill>
          <a:ln w="12700">
            <a:solidFill>
              <a:srgbClr val="005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850" b="1">
                <a:solidFill>
                  <a:srgbClr val="0A325A"/>
                </a:solidFill>
                <a:latin typeface="Aptos"/>
              </a:rPr>
              <a:t>14 BIẾN THỂ</a:t>
            </a:r>
          </a:p>
          <a:p>
            <a:pPr algn="ctr"/>
            <a:r>
              <a:rPr sz="850" b="0">
                <a:solidFill>
                  <a:srgbClr val="0A325A"/>
                </a:solidFill>
                <a:latin typeface="Aptos"/>
              </a:rPr>
              <a:t>FEATURE</a:t>
            </a:r>
          </a:p>
          <a:p>
            <a:pPr algn="ctr"/>
            <a:r>
              <a:rPr sz="850" b="0">
                <a:solidFill>
                  <a:srgbClr val="0A325A"/>
                </a:solidFill>
                <a:latin typeface="Aptos"/>
              </a:rPr>
              <a:t>Raw • HOG • HSV</a:t>
            </a:r>
          </a:p>
          <a:p>
            <a:pPr algn="ctr"/>
            <a:r>
              <a:rPr sz="850" b="0">
                <a:solidFill>
                  <a:srgbClr val="0A325A"/>
                </a:solidFill>
                <a:latin typeface="Aptos"/>
              </a:rPr>
              <a:t>LBP • Gabor • Hu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46319" y="1499616"/>
            <a:ext cx="137160" cy="0"/>
          </a:xfrm>
          <a:prstGeom prst="line">
            <a:avLst/>
          </a:prstGeom>
          <a:ln w="15240">
            <a:solidFill>
              <a:srgbClr val="005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10912" y="1078992"/>
            <a:ext cx="1353312" cy="841248"/>
          </a:xfrm>
          <a:prstGeom prst="roundRect">
            <a:avLst>
              <a:gd name="adj" fmla="val 12000"/>
            </a:avLst>
          </a:prstGeom>
          <a:solidFill>
            <a:srgbClr val="E9F2FA"/>
          </a:solidFill>
          <a:ln w="12700">
            <a:solidFill>
              <a:srgbClr val="005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850" b="1">
                <a:solidFill>
                  <a:srgbClr val="0A325A"/>
                </a:solidFill>
                <a:latin typeface="Aptos"/>
              </a:rPr>
              <a:t>STANDARD</a:t>
            </a:r>
          </a:p>
          <a:p>
            <a:pPr algn="ctr"/>
            <a:r>
              <a:rPr sz="850" b="0">
                <a:solidFill>
                  <a:srgbClr val="0A325A"/>
                </a:solidFill>
                <a:latin typeface="Aptos"/>
              </a:rPr>
              <a:t>SCALER</a:t>
            </a:r>
          </a:p>
          <a:p>
            <a:pPr algn="ctr"/>
            <a:r>
              <a:rPr sz="850" b="0">
                <a:solidFill>
                  <a:srgbClr val="0A325A"/>
                </a:solidFill>
                <a:latin typeface="Aptos"/>
              </a:rPr>
              <a:t>chuẩn hóa vector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82512" y="1499616"/>
            <a:ext cx="137160" cy="0"/>
          </a:xfrm>
          <a:prstGeom prst="line">
            <a:avLst/>
          </a:prstGeom>
          <a:ln w="15240">
            <a:solidFill>
              <a:srgbClr val="005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547104" y="1078992"/>
            <a:ext cx="1353312" cy="841248"/>
          </a:xfrm>
          <a:prstGeom prst="roundRect">
            <a:avLst>
              <a:gd name="adj" fmla="val 12000"/>
            </a:avLst>
          </a:prstGeom>
          <a:solidFill>
            <a:srgbClr val="FFEEEE"/>
          </a:solidFill>
          <a:ln w="12700">
            <a:solidFill>
              <a:srgbClr val="E73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850" b="1">
                <a:solidFill>
                  <a:srgbClr val="0A325A"/>
                </a:solidFill>
                <a:latin typeface="Aptos"/>
              </a:rPr>
              <a:t>SVM RBF</a:t>
            </a:r>
          </a:p>
          <a:p>
            <a:pPr algn="ctr"/>
            <a:r>
              <a:rPr sz="850" b="0">
                <a:solidFill>
                  <a:srgbClr val="0A325A"/>
                </a:solidFill>
                <a:latin typeface="Aptos"/>
              </a:rPr>
              <a:t>C=10 • gamma=scale</a:t>
            </a:r>
          </a:p>
          <a:p>
            <a:pPr algn="ctr"/>
            <a:r>
              <a:rPr sz="850" b="0">
                <a:solidFill>
                  <a:srgbClr val="0A325A"/>
                </a:solidFill>
                <a:latin typeface="Aptos"/>
              </a:rPr>
              <a:t>class_weight=balanced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18704" y="1499616"/>
            <a:ext cx="137160" cy="0"/>
          </a:xfrm>
          <a:prstGeom prst="line">
            <a:avLst/>
          </a:prstGeom>
          <a:ln w="15240">
            <a:solidFill>
              <a:srgbClr val="005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83296" y="1078992"/>
            <a:ext cx="1353312" cy="841248"/>
          </a:xfrm>
          <a:prstGeom prst="roundRect">
            <a:avLst>
              <a:gd name="adj" fmla="val 12000"/>
            </a:avLst>
          </a:prstGeom>
          <a:solidFill>
            <a:srgbClr val="FFF6E4"/>
          </a:solidFill>
          <a:ln w="12700">
            <a:solidFill>
              <a:srgbClr val="005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850" b="1">
                <a:solidFill>
                  <a:srgbClr val="0A325A"/>
                </a:solidFill>
                <a:latin typeface="Aptos"/>
              </a:rPr>
              <a:t>RANKING +</a:t>
            </a:r>
          </a:p>
          <a:p>
            <a:pPr algn="ctr"/>
            <a:r>
              <a:rPr sz="850" b="0">
                <a:solidFill>
                  <a:srgbClr val="0A325A"/>
                </a:solidFill>
                <a:latin typeface="Aptos"/>
              </a:rPr>
              <a:t>BOTTLENECK</a:t>
            </a:r>
          </a:p>
          <a:p>
            <a:pPr algn="ctr"/>
            <a:r>
              <a:rPr sz="850" b="0">
                <a:solidFill>
                  <a:srgbClr val="0A325A"/>
                </a:solidFill>
                <a:latin typeface="Aptos"/>
              </a:rPr>
              <a:t>chọn hướng cho</a:t>
            </a:r>
          </a:p>
          <a:p>
            <a:pPr algn="ctr"/>
            <a:r>
              <a:rPr sz="850" b="0">
                <a:solidFill>
                  <a:srgbClr val="0A325A"/>
                </a:solidFill>
                <a:latin typeface="Aptos"/>
              </a:rPr>
              <a:t>phase-new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" y="2212848"/>
            <a:ext cx="5349240" cy="320040"/>
          </a:xfrm>
          <a:prstGeom prst="roundRect">
            <a:avLst>
              <a:gd name="adj" fmla="val 12000"/>
            </a:avLst>
          </a:prstGeom>
          <a:solidFill>
            <a:srgbClr val="E9F2FA"/>
          </a:solidFill>
          <a:ln w="12700">
            <a:solidFill>
              <a:srgbClr val="005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100" b="1">
                <a:solidFill>
                  <a:srgbClr val="0A325A"/>
                </a:solidFill>
                <a:latin typeface="Aptos"/>
              </a:rPr>
              <a:t>Top kết quả phase-old trên validation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" y="2615184"/>
            <a:ext cx="530352" cy="292608"/>
          </a:xfrm>
          <a:prstGeom prst="roundRect">
            <a:avLst>
              <a:gd name="adj" fmla="val 12000"/>
            </a:avLst>
          </a:prstGeom>
          <a:solidFill>
            <a:srgbClr val="0A325A"/>
          </a:solidFill>
          <a:ln w="12700">
            <a:solidFill>
              <a:srgbClr val="0A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Rank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" y="2615184"/>
            <a:ext cx="2880360" cy="292608"/>
          </a:xfrm>
          <a:prstGeom prst="roundRect">
            <a:avLst>
              <a:gd name="adj" fmla="val 12000"/>
            </a:avLst>
          </a:prstGeom>
          <a:solidFill>
            <a:srgbClr val="0A325A"/>
          </a:solidFill>
          <a:ln w="12700">
            <a:solidFill>
              <a:srgbClr val="0A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Feature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9624" y="2615184"/>
            <a:ext cx="841248" cy="292608"/>
          </a:xfrm>
          <a:prstGeom prst="roundRect">
            <a:avLst>
              <a:gd name="adj" fmla="val 12000"/>
            </a:avLst>
          </a:prstGeom>
          <a:solidFill>
            <a:srgbClr val="0A325A"/>
          </a:solidFill>
          <a:ln w="12700">
            <a:solidFill>
              <a:srgbClr val="0A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Dims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90872" y="2615184"/>
            <a:ext cx="1097280" cy="292608"/>
          </a:xfrm>
          <a:prstGeom prst="roundRect">
            <a:avLst>
              <a:gd name="adj" fmla="val 12000"/>
            </a:avLst>
          </a:prstGeom>
          <a:solidFill>
            <a:srgbClr val="0A325A"/>
          </a:solidFill>
          <a:ln w="12700">
            <a:solidFill>
              <a:srgbClr val="0A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Val Macro F1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" y="2907792"/>
            <a:ext cx="530352" cy="301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800" b="1">
                <a:solidFill>
                  <a:srgbClr val="0A325A"/>
                </a:solidFill>
                <a:latin typeface="Aptos"/>
              </a:rP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" y="2907792"/>
            <a:ext cx="2880360" cy="301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800" b="1">
                <a:solidFill>
                  <a:srgbClr val="0A325A"/>
                </a:solidFill>
                <a:latin typeface="Aptos"/>
              </a:rPr>
              <a:t>Raw Pixels (gray)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9624" y="2907792"/>
            <a:ext cx="841248" cy="301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800" b="1">
                <a:solidFill>
                  <a:srgbClr val="0A325A"/>
                </a:solidFill>
                <a:latin typeface="Aptos"/>
              </a:rPr>
              <a:t>4.096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90872" y="2907792"/>
            <a:ext cx="1097280" cy="301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800" b="1">
                <a:solidFill>
                  <a:srgbClr val="E7393E"/>
                </a:solidFill>
                <a:latin typeface="Aptos"/>
              </a:rPr>
              <a:t>93,40%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" y="3227832"/>
            <a:ext cx="530352" cy="301752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 w="12700">
            <a:solidFill>
              <a:srgbClr val="DE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800" b="0">
                <a:solidFill>
                  <a:srgbClr val="0A325A"/>
                </a:solidFill>
                <a:latin typeface="Aptos"/>
              </a:rP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9264" y="3227832"/>
            <a:ext cx="2880360" cy="301752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 w="12700">
            <a:solidFill>
              <a:srgbClr val="DE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800" b="0">
                <a:solidFill>
                  <a:srgbClr val="0A325A"/>
                </a:solidFill>
                <a:latin typeface="Aptos"/>
              </a:rPr>
              <a:t>HOG Gray + HSV Hist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9624" y="3227832"/>
            <a:ext cx="841248" cy="301752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 w="12700">
            <a:solidFill>
              <a:srgbClr val="DE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800" b="0">
                <a:solidFill>
                  <a:srgbClr val="0A325A"/>
                </a:solidFill>
                <a:latin typeface="Aptos"/>
              </a:rPr>
              <a:t>2.276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90872" y="3227832"/>
            <a:ext cx="1097280" cy="301752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 w="12700">
            <a:solidFill>
              <a:srgbClr val="DE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800" b="1">
                <a:solidFill>
                  <a:srgbClr val="0A325A"/>
                </a:solidFill>
                <a:latin typeface="Aptos"/>
              </a:rPr>
              <a:t>93,27%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" y="3547872"/>
            <a:ext cx="530352" cy="301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800" b="0">
                <a:solidFill>
                  <a:srgbClr val="0A325A"/>
                </a:solidFill>
                <a:latin typeface="Aptos"/>
              </a:rPr>
              <a:t>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9264" y="3547872"/>
            <a:ext cx="2880360" cy="301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800" b="0">
                <a:solidFill>
                  <a:srgbClr val="0A325A"/>
                </a:solidFill>
                <a:latin typeface="Aptos"/>
              </a:rPr>
              <a:t>HOG Gray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9624" y="3547872"/>
            <a:ext cx="841248" cy="301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800" b="0">
                <a:solidFill>
                  <a:srgbClr val="0A325A"/>
                </a:solidFill>
                <a:latin typeface="Aptos"/>
              </a:rPr>
              <a:t>1.764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90872" y="3547872"/>
            <a:ext cx="1097280" cy="301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800" b="1">
                <a:solidFill>
                  <a:srgbClr val="0A325A"/>
                </a:solidFill>
                <a:latin typeface="Aptos"/>
              </a:rPr>
              <a:t>92,86%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912" y="3867912"/>
            <a:ext cx="530352" cy="301752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 w="12700">
            <a:solidFill>
              <a:srgbClr val="DE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800" b="0">
                <a:solidFill>
                  <a:srgbClr val="0A325A"/>
                </a:solidFill>
                <a:latin typeface="Aptos"/>
              </a:rPr>
              <a:t>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9264" y="3867912"/>
            <a:ext cx="2880360" cy="301752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 w="12700">
            <a:solidFill>
              <a:srgbClr val="DE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800" b="0">
                <a:solidFill>
                  <a:srgbClr val="0A325A"/>
                </a:solidFill>
                <a:latin typeface="Aptos"/>
              </a:rPr>
              <a:t>HOG YUV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49624" y="3867912"/>
            <a:ext cx="841248" cy="301752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 w="12700">
            <a:solidFill>
              <a:srgbClr val="DE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800" b="0">
                <a:solidFill>
                  <a:srgbClr val="0A325A"/>
                </a:solidFill>
                <a:latin typeface="Aptos"/>
              </a:rPr>
              <a:t>5.292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90872" y="3867912"/>
            <a:ext cx="1097280" cy="301752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 w="12700">
            <a:solidFill>
              <a:srgbClr val="DE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800" b="1">
                <a:solidFill>
                  <a:srgbClr val="0A325A"/>
                </a:solidFill>
                <a:latin typeface="Aptos"/>
              </a:rPr>
              <a:t>92,74%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8912" y="4187952"/>
            <a:ext cx="530352" cy="301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800" b="0">
                <a:solidFill>
                  <a:srgbClr val="0A325A"/>
                </a:solidFill>
                <a:latin typeface="Aptos"/>
              </a:rPr>
              <a:t>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9264" y="4187952"/>
            <a:ext cx="2880360" cy="301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800" b="0">
                <a:solidFill>
                  <a:srgbClr val="0A325A"/>
                </a:solidFill>
                <a:latin typeface="Aptos"/>
              </a:rPr>
              <a:t>HOG YUV + HSV Hist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49624" y="4187952"/>
            <a:ext cx="841248" cy="301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800" b="0">
                <a:solidFill>
                  <a:srgbClr val="0A325A"/>
                </a:solidFill>
                <a:latin typeface="Aptos"/>
              </a:rPr>
              <a:t>5.804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90872" y="4187952"/>
            <a:ext cx="1097280" cy="301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800" b="1">
                <a:solidFill>
                  <a:srgbClr val="0A325A"/>
                </a:solidFill>
                <a:latin typeface="Aptos"/>
              </a:rPr>
              <a:t>92,09%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53328" y="2212848"/>
            <a:ext cx="2788920" cy="320040"/>
          </a:xfrm>
          <a:prstGeom prst="roundRect">
            <a:avLst>
              <a:gd name="adj" fmla="val 12000"/>
            </a:avLst>
          </a:prstGeom>
          <a:solidFill>
            <a:srgbClr val="FFEEEE"/>
          </a:solidFill>
          <a:ln w="12700">
            <a:solidFill>
              <a:srgbClr val="E73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100" b="1">
                <a:solidFill>
                  <a:srgbClr val="0A325A"/>
                </a:solidFill>
                <a:latin typeface="Aptos"/>
              </a:rPr>
              <a:t>Feature bị loại ở legacy phase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44768" y="2697480"/>
            <a:ext cx="868680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00" b="1">
                <a:solidFill>
                  <a:srgbClr val="0A325A"/>
                </a:solidFill>
                <a:latin typeface="Aptos"/>
              </a:rPr>
              <a:t>Edge Hist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95160" y="2724912"/>
            <a:ext cx="1170432" cy="10972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995160" y="2724912"/>
            <a:ext cx="687628" cy="109728"/>
          </a:xfrm>
          <a:prstGeom prst="roundRect">
            <a:avLst/>
          </a:prstGeom>
          <a:solidFill>
            <a:srgbClr val="F5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11312" y="2688336"/>
            <a:ext cx="566928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750" b="0">
                <a:solidFill>
                  <a:srgbClr val="5C6F82"/>
                </a:solidFill>
                <a:latin typeface="Aptos"/>
              </a:rPr>
              <a:t>58,75%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44768" y="3136392"/>
            <a:ext cx="868680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00" b="1">
                <a:solidFill>
                  <a:srgbClr val="0A325A"/>
                </a:solidFill>
                <a:latin typeface="Aptos"/>
              </a:rPr>
              <a:t>Gabor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95160" y="3163824"/>
            <a:ext cx="1170432" cy="10972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995160" y="3163824"/>
            <a:ext cx="687511" cy="109728"/>
          </a:xfrm>
          <a:prstGeom prst="roundRect">
            <a:avLst/>
          </a:prstGeom>
          <a:solidFill>
            <a:srgbClr val="F5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11312" y="3127248"/>
            <a:ext cx="566928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750" b="0">
                <a:solidFill>
                  <a:srgbClr val="5C6F82"/>
                </a:solidFill>
                <a:latin typeface="Aptos"/>
              </a:rPr>
              <a:t>58,74%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44768" y="3575304"/>
            <a:ext cx="868680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00" b="1">
                <a:solidFill>
                  <a:srgbClr val="0A325A"/>
                </a:solidFill>
                <a:latin typeface="Aptos"/>
              </a:rPr>
              <a:t>LBP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95160" y="3602736"/>
            <a:ext cx="1170432" cy="10972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995160" y="3602736"/>
            <a:ext cx="359790" cy="109728"/>
          </a:xfrm>
          <a:prstGeom prst="roundRect">
            <a:avLst/>
          </a:prstGeom>
          <a:solidFill>
            <a:srgbClr val="E7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11312" y="3566160"/>
            <a:ext cx="566928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750" b="0">
                <a:solidFill>
                  <a:srgbClr val="5C6F82"/>
                </a:solidFill>
                <a:latin typeface="Aptos"/>
              </a:rPr>
              <a:t>30,74%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44768" y="4014216"/>
            <a:ext cx="868680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800" b="1">
                <a:solidFill>
                  <a:srgbClr val="0A325A"/>
                </a:solidFill>
                <a:latin typeface="Aptos"/>
              </a:rPr>
              <a:t>Hu Moments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995160" y="4041648"/>
            <a:ext cx="1170432" cy="10972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995160" y="4041648"/>
            <a:ext cx="293895" cy="109728"/>
          </a:xfrm>
          <a:prstGeom prst="roundRect">
            <a:avLst/>
          </a:prstGeom>
          <a:solidFill>
            <a:srgbClr val="E73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11312" y="4005072"/>
            <a:ext cx="566928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750" b="0">
                <a:solidFill>
                  <a:srgbClr val="5C6F82"/>
                </a:solidFill>
                <a:latin typeface="Aptos"/>
              </a:rPr>
              <a:t>25,11%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070848" y="2212848"/>
            <a:ext cx="2651760" cy="320040"/>
          </a:xfrm>
          <a:prstGeom prst="roundRect">
            <a:avLst>
              <a:gd name="adj" fmla="val 12000"/>
            </a:avLst>
          </a:prstGeom>
          <a:solidFill>
            <a:srgbClr val="ECF9F4"/>
          </a:solidFill>
          <a:ln w="12700">
            <a:solidFill>
              <a:srgbClr val="20B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100" b="1">
                <a:solidFill>
                  <a:srgbClr val="0A325A"/>
                </a:solidFill>
                <a:latin typeface="Aptos"/>
              </a:rPr>
              <a:t>Quyết định rút ra cho phase-new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144000" y="2670048"/>
            <a:ext cx="246888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2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20" b="1">
                <a:solidFill>
                  <a:srgbClr val="0A325A"/>
                </a:solidFill>
                <a:latin typeface="Aptos"/>
              </a:rPr>
              <a:t>Cắt bỏ LBP/Gabor/Hu/Edge</a:t>
            </a:r>
          </a:p>
          <a:p>
            <a:pPr algn="l"/>
            <a:r>
              <a:rPr sz="720" b="0">
                <a:solidFill>
                  <a:srgbClr val="0A325A"/>
                </a:solidFill>
                <a:latin typeface="Aptos"/>
              </a:rPr>
              <a:t>do Macro F1 thấp, không ổn định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144000" y="3182112"/>
            <a:ext cx="246888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2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20" b="1">
                <a:solidFill>
                  <a:srgbClr val="0A325A"/>
                </a:solidFill>
                <a:latin typeface="Aptos"/>
              </a:rPr>
              <a:t>Giữ hướng HOG + màu</a:t>
            </a:r>
          </a:p>
          <a:p>
            <a:pPr algn="l"/>
            <a:r>
              <a:rPr sz="720" b="0">
                <a:solidFill>
                  <a:srgbClr val="0A325A"/>
                </a:solidFill>
                <a:latin typeface="Aptos"/>
              </a:rPr>
              <a:t>vì top nhóm đặc trưng tiềm năng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144000" y="3694176"/>
            <a:ext cx="246888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2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20" b="1">
                <a:solidFill>
                  <a:srgbClr val="0A325A"/>
                </a:solidFill>
                <a:latin typeface="Aptos"/>
              </a:rPr>
              <a:t>Khóa hệ quy chiếu SVM RBF</a:t>
            </a:r>
          </a:p>
          <a:p>
            <a:pPr algn="l"/>
            <a:r>
              <a:rPr sz="720" b="0">
                <a:solidFill>
                  <a:srgbClr val="0A325A"/>
                </a:solidFill>
                <a:latin typeface="Aptos"/>
              </a:rPr>
              <a:t>để đo tác động của feature/preprocess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144000" y="4206240"/>
            <a:ext cx="246888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2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20" b="1">
                <a:solidFill>
                  <a:srgbClr val="0A325A"/>
                </a:solidFill>
                <a:latin typeface="Aptos"/>
              </a:rPr>
              <a:t>Chuyển sang ablation M01–M06</a:t>
            </a:r>
          </a:p>
          <a:p>
            <a:pPr algn="l"/>
            <a:r>
              <a:rPr sz="720" b="0">
                <a:solidFill>
                  <a:srgbClr val="0A325A"/>
                </a:solidFill>
                <a:latin typeface="Aptos"/>
              </a:rPr>
              <a:t>tối ưu tuần tự, dễ giải thích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38912" y="5285232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0A325A"/>
          </a:solidFill>
          <a:ln w="12700">
            <a:solidFill>
              <a:srgbClr val="0A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Vai trò của phase-old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468880" y="5285232"/>
            <a:ext cx="9235440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5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950" b="0">
                <a:solidFill>
                  <a:srgbClr val="0A325A"/>
                </a:solidFill>
                <a:latin typeface="Aptos"/>
              </a:rPr>
              <a:t>Không phải kết quả cuối, mà là bước khảo sát nền: giúp nhóm phát hiện bottleneck về số chiều, resize stretch và class imbalance để thiết kế lại phase-new có kiểm soát hơn.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2026-07-19T03:35:16.7740000Z</dcterms:created>
  <dcterms:modified xsi:type="dcterms:W3CDTF">2026-07-19T03:35:16.7750000Z</dcterms:modified>
</coreProperties>
</file>